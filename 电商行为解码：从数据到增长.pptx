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12192000"/>
  <p:embeddedFontLst>
    <p:embeddedFont>
      <p:font typeface="MiSans" pitchFamily="34" charset="-122"/>
      <p:regular r:id="rId30"/>
    </p:embeddedFont>
    <p:embeddedFont>
      <p:font typeface="MiSans" pitchFamily="34" charset="-120"/>
      <p:regular r:id="rId31"/>
    </p:embeddedFont>
    <p:embeddedFont>
      <p:font typeface="Noto Sans SC" panose="020B0200000000000000" pitchFamily="34" charset="-122"/>
      <p:regular r:id="rId32"/>
    </p:embeddedFont>
    <p:embeddedFont>
      <p:font typeface="Noto Sans SC" panose="020B0200000000000000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4.png"/><Relationship Id="rId2" Type="http://schemas.openxmlformats.org/officeDocument/2006/relationships/tags" Target="../tags/tag5.xml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25000"/>
          </a:blip>
          <a:srcRect t="22162"/>
          <a:stretch>
            <a:fillRect/>
          </a:stretch>
        </p:blipFill>
        <p:spPr>
          <a:xfrm>
            <a:off x="2527935" y="249555"/>
            <a:ext cx="2402840" cy="18719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25000"/>
          </a:blip>
          <a:srcRect t="22162"/>
          <a:stretch>
            <a:fillRect/>
          </a:stretch>
        </p:blipFill>
        <p:spPr>
          <a:xfrm>
            <a:off x="8163560" y="2559685"/>
            <a:ext cx="3218815" cy="250761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-6985" y="0"/>
            <a:ext cx="5052060" cy="68707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8-13:43:37-d2v6q2dnfo2stf9dk94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-2189" t="-15430" r="-1417" b="-11298"/>
          <a:stretch>
            <a:fillRect/>
          </a:stretch>
        </p:blipFill>
        <p:spPr>
          <a:xfrm>
            <a:off x="6334125" y="5113655"/>
            <a:ext cx="2346325" cy="954405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6"/>
            </p:custDataLst>
          </p:nvPr>
        </p:nvSpPr>
        <p:spPr>
          <a:xfrm>
            <a:off x="6333490" y="5403215"/>
            <a:ext cx="234696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龙军利</a:t>
            </a:r>
            <a:endParaRPr lang="zh-CN" altLang="en-US" sz="2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8" name="Image 5" descr="https://kimi-img.moonshot.cn/pub/slides/slides_tmpl/image/25-09-08-13:43:37-d2v6q2dnfo2stf9dk94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/>
          <a:srcRect l="-2278" t="-15430" r="-381" b="-7841"/>
          <a:stretch>
            <a:fillRect/>
          </a:stretch>
        </p:blipFill>
        <p:spPr>
          <a:xfrm>
            <a:off x="8855075" y="5113655"/>
            <a:ext cx="2507615" cy="92837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8"/>
            </p:custDataLst>
          </p:nvPr>
        </p:nvSpPr>
        <p:spPr>
          <a:xfrm>
            <a:off x="8931910" y="5403215"/>
            <a:ext cx="24307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时间:2025/1/01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5044440" y="3613785"/>
            <a:ext cx="1051560" cy="622300"/>
          </a:xfrm>
          <a:custGeom>
            <a:avLst/>
            <a:gdLst/>
            <a:ahLst/>
            <a:cxnLst/>
            <a:rect l="l" t="t" r="r" b="b"/>
            <a:pathLst>
              <a:path w="1051560" h="622300">
                <a:moveTo>
                  <a:pt x="46815" y="22187"/>
                </a:moveTo>
                <a:cubicBezTo>
                  <a:pt x="46815" y="34488"/>
                  <a:pt x="36134" y="44461"/>
                  <a:pt x="22958" y="44461"/>
                </a:cubicBezTo>
                <a:cubicBezTo>
                  <a:pt x="9782" y="44461"/>
                  <a:pt x="-899" y="34488"/>
                  <a:pt x="-899" y="22187"/>
                </a:cubicBezTo>
                <a:cubicBezTo>
                  <a:pt x="-899" y="9885"/>
                  <a:pt x="9782" y="-87"/>
                  <a:pt x="22958" y="-87"/>
                </a:cubicBezTo>
                <a:cubicBezTo>
                  <a:pt x="36129" y="-93"/>
                  <a:pt x="46809" y="9871"/>
                  <a:pt x="46815" y="22165"/>
                </a:cubicBezTo>
                <a:cubicBezTo>
                  <a:pt x="46815" y="22173"/>
                  <a:pt x="46815" y="22180"/>
                  <a:pt x="46815" y="22187"/>
                </a:cubicBezTo>
                <a:close/>
                <a:moveTo>
                  <a:pt x="247776" y="22187"/>
                </a:moveTo>
                <a:cubicBezTo>
                  <a:pt x="247776" y="34488"/>
                  <a:pt x="237095" y="44461"/>
                  <a:pt x="223919" y="44461"/>
                </a:cubicBezTo>
                <a:cubicBezTo>
                  <a:pt x="210744" y="44461"/>
                  <a:pt x="200062" y="34488"/>
                  <a:pt x="200062" y="22187"/>
                </a:cubicBezTo>
                <a:cubicBezTo>
                  <a:pt x="200062" y="9885"/>
                  <a:pt x="210744" y="-87"/>
                  <a:pt x="223919" y="-87"/>
                </a:cubicBezTo>
                <a:cubicBezTo>
                  <a:pt x="237087" y="-72"/>
                  <a:pt x="247761" y="9891"/>
                  <a:pt x="247776" y="22187"/>
                </a:cubicBezTo>
                <a:close/>
                <a:moveTo>
                  <a:pt x="448680" y="22187"/>
                </a:moveTo>
                <a:cubicBezTo>
                  <a:pt x="448680" y="34488"/>
                  <a:pt x="437998" y="44461"/>
                  <a:pt x="424823" y="44461"/>
                </a:cubicBezTo>
                <a:cubicBezTo>
                  <a:pt x="411647" y="44461"/>
                  <a:pt x="400966" y="34488"/>
                  <a:pt x="400966" y="22187"/>
                </a:cubicBezTo>
                <a:cubicBezTo>
                  <a:pt x="400966" y="9885"/>
                  <a:pt x="411647" y="-87"/>
                  <a:pt x="424823" y="-87"/>
                </a:cubicBezTo>
                <a:cubicBezTo>
                  <a:pt x="437993" y="-93"/>
                  <a:pt x="448673" y="9871"/>
                  <a:pt x="448680" y="22165"/>
                </a:cubicBezTo>
                <a:cubicBezTo>
                  <a:pt x="448680" y="22173"/>
                  <a:pt x="448680" y="22180"/>
                  <a:pt x="448680" y="22187"/>
                </a:cubicBezTo>
                <a:close/>
                <a:moveTo>
                  <a:pt x="649641" y="22187"/>
                </a:moveTo>
                <a:cubicBezTo>
                  <a:pt x="649641" y="34488"/>
                  <a:pt x="638960" y="44461"/>
                  <a:pt x="625784" y="44461"/>
                </a:cubicBezTo>
                <a:cubicBezTo>
                  <a:pt x="612608" y="44461"/>
                  <a:pt x="601927" y="34488"/>
                  <a:pt x="601927" y="22187"/>
                </a:cubicBezTo>
                <a:cubicBezTo>
                  <a:pt x="601927" y="9885"/>
                  <a:pt x="612608" y="-87"/>
                  <a:pt x="625784" y="-87"/>
                </a:cubicBezTo>
                <a:cubicBezTo>
                  <a:pt x="638954" y="-93"/>
                  <a:pt x="649633" y="9871"/>
                  <a:pt x="649641" y="22165"/>
                </a:cubicBezTo>
                <a:cubicBezTo>
                  <a:pt x="649641" y="22173"/>
                  <a:pt x="649641" y="22180"/>
                  <a:pt x="649641" y="22187"/>
                </a:cubicBezTo>
                <a:close/>
                <a:moveTo>
                  <a:pt x="850601" y="22187"/>
                </a:moveTo>
                <a:cubicBezTo>
                  <a:pt x="850601" y="34488"/>
                  <a:pt x="839920" y="44461"/>
                  <a:pt x="826744" y="44461"/>
                </a:cubicBezTo>
                <a:cubicBezTo>
                  <a:pt x="813569" y="44461"/>
                  <a:pt x="802887" y="34488"/>
                  <a:pt x="802887" y="22187"/>
                </a:cubicBezTo>
                <a:cubicBezTo>
                  <a:pt x="802887" y="9885"/>
                  <a:pt x="813569" y="-87"/>
                  <a:pt x="826744" y="-87"/>
                </a:cubicBezTo>
                <a:cubicBezTo>
                  <a:pt x="839914" y="-93"/>
                  <a:pt x="850594" y="9871"/>
                  <a:pt x="850601" y="22165"/>
                </a:cubicBezTo>
                <a:cubicBezTo>
                  <a:pt x="850601" y="22173"/>
                  <a:pt x="850601" y="22180"/>
                  <a:pt x="850601" y="22187"/>
                </a:cubicBezTo>
                <a:close/>
                <a:moveTo>
                  <a:pt x="1051560" y="22187"/>
                </a:moveTo>
                <a:cubicBezTo>
                  <a:pt x="1051560" y="34488"/>
                  <a:pt x="1040879" y="44461"/>
                  <a:pt x="1027703" y="44461"/>
                </a:cubicBezTo>
                <a:cubicBezTo>
                  <a:pt x="1014527" y="44461"/>
                  <a:pt x="1003846" y="34488"/>
                  <a:pt x="1003846" y="22187"/>
                </a:cubicBezTo>
                <a:cubicBezTo>
                  <a:pt x="1003846" y="9885"/>
                  <a:pt x="1014527" y="-87"/>
                  <a:pt x="1027703" y="-87"/>
                </a:cubicBezTo>
                <a:cubicBezTo>
                  <a:pt x="1040872" y="-72"/>
                  <a:pt x="1051545" y="9891"/>
                  <a:pt x="1051560" y="22187"/>
                </a:cubicBezTo>
                <a:close/>
                <a:moveTo>
                  <a:pt x="46815" y="166647"/>
                </a:moveTo>
                <a:cubicBezTo>
                  <a:pt x="46815" y="178948"/>
                  <a:pt x="36134" y="188920"/>
                  <a:pt x="22958" y="188920"/>
                </a:cubicBezTo>
                <a:cubicBezTo>
                  <a:pt x="9782" y="188920"/>
                  <a:pt x="-899" y="178948"/>
                  <a:pt x="-899" y="166647"/>
                </a:cubicBezTo>
                <a:cubicBezTo>
                  <a:pt x="-899" y="154345"/>
                  <a:pt x="9782" y="144373"/>
                  <a:pt x="22958" y="144373"/>
                </a:cubicBezTo>
                <a:cubicBezTo>
                  <a:pt x="36129" y="144367"/>
                  <a:pt x="46809" y="154331"/>
                  <a:pt x="46815" y="166626"/>
                </a:cubicBezTo>
                <a:cubicBezTo>
                  <a:pt x="46815" y="166633"/>
                  <a:pt x="46815" y="166640"/>
                  <a:pt x="46815" y="166647"/>
                </a:cubicBezTo>
                <a:close/>
                <a:moveTo>
                  <a:pt x="247776" y="166647"/>
                </a:moveTo>
                <a:cubicBezTo>
                  <a:pt x="247776" y="178948"/>
                  <a:pt x="237095" y="188920"/>
                  <a:pt x="223919" y="188920"/>
                </a:cubicBezTo>
                <a:cubicBezTo>
                  <a:pt x="210744" y="188920"/>
                  <a:pt x="200062" y="178948"/>
                  <a:pt x="200062" y="166647"/>
                </a:cubicBezTo>
                <a:cubicBezTo>
                  <a:pt x="200062" y="154345"/>
                  <a:pt x="210744" y="144373"/>
                  <a:pt x="223919" y="144373"/>
                </a:cubicBezTo>
                <a:cubicBezTo>
                  <a:pt x="237087" y="144388"/>
                  <a:pt x="247761" y="154351"/>
                  <a:pt x="247776" y="166647"/>
                </a:cubicBezTo>
                <a:close/>
                <a:moveTo>
                  <a:pt x="448680" y="166647"/>
                </a:moveTo>
                <a:cubicBezTo>
                  <a:pt x="448680" y="178948"/>
                  <a:pt x="437998" y="188920"/>
                  <a:pt x="424823" y="188920"/>
                </a:cubicBezTo>
                <a:cubicBezTo>
                  <a:pt x="411647" y="188920"/>
                  <a:pt x="400966" y="178948"/>
                  <a:pt x="400966" y="166647"/>
                </a:cubicBezTo>
                <a:cubicBezTo>
                  <a:pt x="400966" y="154345"/>
                  <a:pt x="411647" y="144373"/>
                  <a:pt x="424823" y="144373"/>
                </a:cubicBezTo>
                <a:cubicBezTo>
                  <a:pt x="437993" y="144367"/>
                  <a:pt x="448673" y="154331"/>
                  <a:pt x="448680" y="166626"/>
                </a:cubicBezTo>
                <a:cubicBezTo>
                  <a:pt x="448680" y="166633"/>
                  <a:pt x="448680" y="166640"/>
                  <a:pt x="448680" y="166647"/>
                </a:cubicBezTo>
                <a:close/>
                <a:moveTo>
                  <a:pt x="649641" y="166647"/>
                </a:moveTo>
                <a:cubicBezTo>
                  <a:pt x="649641" y="178948"/>
                  <a:pt x="638960" y="188920"/>
                  <a:pt x="625784" y="188920"/>
                </a:cubicBezTo>
                <a:cubicBezTo>
                  <a:pt x="612608" y="188920"/>
                  <a:pt x="601927" y="178948"/>
                  <a:pt x="601927" y="166647"/>
                </a:cubicBezTo>
                <a:cubicBezTo>
                  <a:pt x="601927" y="154345"/>
                  <a:pt x="612608" y="144373"/>
                  <a:pt x="625784" y="144373"/>
                </a:cubicBezTo>
                <a:cubicBezTo>
                  <a:pt x="638954" y="144367"/>
                  <a:pt x="649633" y="154331"/>
                  <a:pt x="649641" y="166626"/>
                </a:cubicBezTo>
                <a:cubicBezTo>
                  <a:pt x="649641" y="166633"/>
                  <a:pt x="649641" y="166640"/>
                  <a:pt x="649641" y="166647"/>
                </a:cubicBezTo>
                <a:close/>
                <a:moveTo>
                  <a:pt x="850601" y="166647"/>
                </a:moveTo>
                <a:cubicBezTo>
                  <a:pt x="850601" y="178948"/>
                  <a:pt x="839920" y="188920"/>
                  <a:pt x="826744" y="188920"/>
                </a:cubicBezTo>
                <a:cubicBezTo>
                  <a:pt x="813569" y="188920"/>
                  <a:pt x="802887" y="178948"/>
                  <a:pt x="802887" y="166647"/>
                </a:cubicBezTo>
                <a:cubicBezTo>
                  <a:pt x="802887" y="154345"/>
                  <a:pt x="813569" y="144373"/>
                  <a:pt x="826744" y="144373"/>
                </a:cubicBezTo>
                <a:cubicBezTo>
                  <a:pt x="839914" y="144367"/>
                  <a:pt x="850594" y="154331"/>
                  <a:pt x="850601" y="166626"/>
                </a:cubicBezTo>
                <a:cubicBezTo>
                  <a:pt x="850601" y="166633"/>
                  <a:pt x="850601" y="166640"/>
                  <a:pt x="850601" y="166647"/>
                </a:cubicBezTo>
                <a:close/>
                <a:moveTo>
                  <a:pt x="1051560" y="166647"/>
                </a:moveTo>
                <a:cubicBezTo>
                  <a:pt x="1051560" y="178948"/>
                  <a:pt x="1040879" y="188920"/>
                  <a:pt x="1027703" y="188920"/>
                </a:cubicBezTo>
                <a:cubicBezTo>
                  <a:pt x="1014527" y="188920"/>
                  <a:pt x="1003846" y="178948"/>
                  <a:pt x="1003846" y="166647"/>
                </a:cubicBezTo>
                <a:cubicBezTo>
                  <a:pt x="1003846" y="154345"/>
                  <a:pt x="1014527" y="144373"/>
                  <a:pt x="1027703" y="144373"/>
                </a:cubicBezTo>
                <a:cubicBezTo>
                  <a:pt x="1040872" y="144388"/>
                  <a:pt x="1051545" y="154351"/>
                  <a:pt x="1051560" y="166647"/>
                </a:cubicBezTo>
                <a:close/>
                <a:moveTo>
                  <a:pt x="46815" y="311107"/>
                </a:moveTo>
                <a:cubicBezTo>
                  <a:pt x="46815" y="323408"/>
                  <a:pt x="36134" y="333380"/>
                  <a:pt x="22958" y="333380"/>
                </a:cubicBezTo>
                <a:cubicBezTo>
                  <a:pt x="9782" y="333380"/>
                  <a:pt x="-899" y="323408"/>
                  <a:pt x="-899" y="311107"/>
                </a:cubicBezTo>
                <a:cubicBezTo>
                  <a:pt x="-899" y="298805"/>
                  <a:pt x="9782" y="288833"/>
                  <a:pt x="22958" y="288833"/>
                </a:cubicBezTo>
                <a:cubicBezTo>
                  <a:pt x="36129" y="288827"/>
                  <a:pt x="46809" y="298789"/>
                  <a:pt x="46815" y="311085"/>
                </a:cubicBezTo>
                <a:cubicBezTo>
                  <a:pt x="46815" y="311092"/>
                  <a:pt x="46815" y="311100"/>
                  <a:pt x="46815" y="311107"/>
                </a:cubicBezTo>
                <a:close/>
                <a:moveTo>
                  <a:pt x="247776" y="311107"/>
                </a:moveTo>
                <a:cubicBezTo>
                  <a:pt x="247776" y="323408"/>
                  <a:pt x="237095" y="333380"/>
                  <a:pt x="223919" y="333380"/>
                </a:cubicBezTo>
                <a:cubicBezTo>
                  <a:pt x="210744" y="333380"/>
                  <a:pt x="200062" y="323408"/>
                  <a:pt x="200062" y="311107"/>
                </a:cubicBezTo>
                <a:cubicBezTo>
                  <a:pt x="200062" y="298805"/>
                  <a:pt x="210744" y="288833"/>
                  <a:pt x="223919" y="288833"/>
                </a:cubicBezTo>
                <a:cubicBezTo>
                  <a:pt x="237087" y="288847"/>
                  <a:pt x="247761" y="298811"/>
                  <a:pt x="247776" y="311107"/>
                </a:cubicBezTo>
                <a:close/>
                <a:moveTo>
                  <a:pt x="448680" y="311107"/>
                </a:moveTo>
                <a:cubicBezTo>
                  <a:pt x="448680" y="323408"/>
                  <a:pt x="437998" y="333380"/>
                  <a:pt x="424823" y="333380"/>
                </a:cubicBezTo>
                <a:cubicBezTo>
                  <a:pt x="411647" y="333380"/>
                  <a:pt x="400966" y="323408"/>
                  <a:pt x="400966" y="311107"/>
                </a:cubicBezTo>
                <a:cubicBezTo>
                  <a:pt x="400966" y="298805"/>
                  <a:pt x="411647" y="288833"/>
                  <a:pt x="424823" y="288833"/>
                </a:cubicBezTo>
                <a:cubicBezTo>
                  <a:pt x="437993" y="288827"/>
                  <a:pt x="448673" y="298789"/>
                  <a:pt x="448680" y="311085"/>
                </a:cubicBezTo>
                <a:cubicBezTo>
                  <a:pt x="448680" y="311092"/>
                  <a:pt x="448680" y="311100"/>
                  <a:pt x="448680" y="311107"/>
                </a:cubicBezTo>
                <a:close/>
                <a:moveTo>
                  <a:pt x="649641" y="311107"/>
                </a:moveTo>
                <a:cubicBezTo>
                  <a:pt x="649641" y="323408"/>
                  <a:pt x="638960" y="333380"/>
                  <a:pt x="625784" y="333380"/>
                </a:cubicBezTo>
                <a:cubicBezTo>
                  <a:pt x="612608" y="333380"/>
                  <a:pt x="601927" y="323408"/>
                  <a:pt x="601927" y="311107"/>
                </a:cubicBezTo>
                <a:cubicBezTo>
                  <a:pt x="601927" y="298805"/>
                  <a:pt x="612608" y="288833"/>
                  <a:pt x="625784" y="288833"/>
                </a:cubicBezTo>
                <a:cubicBezTo>
                  <a:pt x="638954" y="288827"/>
                  <a:pt x="649633" y="298789"/>
                  <a:pt x="649641" y="311085"/>
                </a:cubicBezTo>
                <a:cubicBezTo>
                  <a:pt x="649641" y="311092"/>
                  <a:pt x="649641" y="311100"/>
                  <a:pt x="649641" y="311107"/>
                </a:cubicBezTo>
                <a:close/>
                <a:moveTo>
                  <a:pt x="850601" y="311107"/>
                </a:moveTo>
                <a:cubicBezTo>
                  <a:pt x="850601" y="323408"/>
                  <a:pt x="839920" y="333380"/>
                  <a:pt x="826744" y="333380"/>
                </a:cubicBezTo>
                <a:cubicBezTo>
                  <a:pt x="813569" y="333380"/>
                  <a:pt x="802887" y="323408"/>
                  <a:pt x="802887" y="311107"/>
                </a:cubicBezTo>
                <a:cubicBezTo>
                  <a:pt x="802887" y="298805"/>
                  <a:pt x="813569" y="288833"/>
                  <a:pt x="826744" y="288833"/>
                </a:cubicBezTo>
                <a:cubicBezTo>
                  <a:pt x="839914" y="288827"/>
                  <a:pt x="850594" y="298789"/>
                  <a:pt x="850601" y="311085"/>
                </a:cubicBezTo>
                <a:cubicBezTo>
                  <a:pt x="850601" y="311092"/>
                  <a:pt x="850601" y="311100"/>
                  <a:pt x="850601" y="311107"/>
                </a:cubicBezTo>
                <a:close/>
                <a:moveTo>
                  <a:pt x="1051560" y="311107"/>
                </a:moveTo>
                <a:cubicBezTo>
                  <a:pt x="1051560" y="323408"/>
                  <a:pt x="1040879" y="333380"/>
                  <a:pt x="1027703" y="333380"/>
                </a:cubicBezTo>
                <a:cubicBezTo>
                  <a:pt x="1014527" y="333380"/>
                  <a:pt x="1003846" y="323408"/>
                  <a:pt x="1003846" y="311107"/>
                </a:cubicBezTo>
                <a:cubicBezTo>
                  <a:pt x="1003846" y="298805"/>
                  <a:pt x="1014527" y="288833"/>
                  <a:pt x="1027703" y="288833"/>
                </a:cubicBezTo>
                <a:cubicBezTo>
                  <a:pt x="1040872" y="288847"/>
                  <a:pt x="1051545" y="298811"/>
                  <a:pt x="1051560" y="311107"/>
                </a:cubicBezTo>
                <a:close/>
                <a:moveTo>
                  <a:pt x="46815" y="455566"/>
                </a:moveTo>
                <a:cubicBezTo>
                  <a:pt x="46815" y="467868"/>
                  <a:pt x="36134" y="477840"/>
                  <a:pt x="22958" y="477840"/>
                </a:cubicBezTo>
                <a:cubicBezTo>
                  <a:pt x="9782" y="477840"/>
                  <a:pt x="-899" y="467868"/>
                  <a:pt x="-899" y="455566"/>
                </a:cubicBezTo>
                <a:cubicBezTo>
                  <a:pt x="-899" y="443265"/>
                  <a:pt x="9782" y="433293"/>
                  <a:pt x="22958" y="433293"/>
                </a:cubicBezTo>
                <a:cubicBezTo>
                  <a:pt x="36129" y="433287"/>
                  <a:pt x="46809" y="443249"/>
                  <a:pt x="46815" y="455545"/>
                </a:cubicBezTo>
                <a:cubicBezTo>
                  <a:pt x="46815" y="455553"/>
                  <a:pt x="46815" y="455560"/>
                  <a:pt x="46815" y="455566"/>
                </a:cubicBezTo>
                <a:close/>
                <a:moveTo>
                  <a:pt x="247776" y="455566"/>
                </a:moveTo>
                <a:cubicBezTo>
                  <a:pt x="247776" y="467868"/>
                  <a:pt x="237095" y="477840"/>
                  <a:pt x="223919" y="477840"/>
                </a:cubicBezTo>
                <a:cubicBezTo>
                  <a:pt x="210744" y="477840"/>
                  <a:pt x="200062" y="467868"/>
                  <a:pt x="200062" y="455566"/>
                </a:cubicBezTo>
                <a:cubicBezTo>
                  <a:pt x="200062" y="443265"/>
                  <a:pt x="210744" y="433293"/>
                  <a:pt x="223919" y="433293"/>
                </a:cubicBezTo>
                <a:cubicBezTo>
                  <a:pt x="237087" y="433307"/>
                  <a:pt x="247761" y="443271"/>
                  <a:pt x="247776" y="455566"/>
                </a:cubicBezTo>
                <a:close/>
                <a:moveTo>
                  <a:pt x="448680" y="455566"/>
                </a:moveTo>
                <a:cubicBezTo>
                  <a:pt x="448680" y="467868"/>
                  <a:pt x="437998" y="477840"/>
                  <a:pt x="424823" y="477840"/>
                </a:cubicBezTo>
                <a:cubicBezTo>
                  <a:pt x="411647" y="477840"/>
                  <a:pt x="400966" y="467868"/>
                  <a:pt x="400966" y="455566"/>
                </a:cubicBezTo>
                <a:cubicBezTo>
                  <a:pt x="400966" y="443265"/>
                  <a:pt x="411647" y="433293"/>
                  <a:pt x="424823" y="433293"/>
                </a:cubicBezTo>
                <a:cubicBezTo>
                  <a:pt x="437993" y="433287"/>
                  <a:pt x="448673" y="443249"/>
                  <a:pt x="448680" y="455545"/>
                </a:cubicBezTo>
                <a:cubicBezTo>
                  <a:pt x="448680" y="455553"/>
                  <a:pt x="448680" y="455560"/>
                  <a:pt x="448680" y="455566"/>
                </a:cubicBezTo>
                <a:close/>
                <a:moveTo>
                  <a:pt x="649641" y="455566"/>
                </a:moveTo>
                <a:cubicBezTo>
                  <a:pt x="649641" y="467868"/>
                  <a:pt x="638960" y="477840"/>
                  <a:pt x="625784" y="477840"/>
                </a:cubicBezTo>
                <a:cubicBezTo>
                  <a:pt x="612608" y="477840"/>
                  <a:pt x="601927" y="467868"/>
                  <a:pt x="601927" y="455566"/>
                </a:cubicBezTo>
                <a:cubicBezTo>
                  <a:pt x="601927" y="443265"/>
                  <a:pt x="612608" y="433293"/>
                  <a:pt x="625784" y="433293"/>
                </a:cubicBezTo>
                <a:cubicBezTo>
                  <a:pt x="638954" y="433287"/>
                  <a:pt x="649633" y="443249"/>
                  <a:pt x="649641" y="455545"/>
                </a:cubicBezTo>
                <a:cubicBezTo>
                  <a:pt x="649641" y="455553"/>
                  <a:pt x="649641" y="455560"/>
                  <a:pt x="649641" y="455566"/>
                </a:cubicBezTo>
                <a:close/>
                <a:moveTo>
                  <a:pt x="850601" y="455566"/>
                </a:moveTo>
                <a:cubicBezTo>
                  <a:pt x="850601" y="467868"/>
                  <a:pt x="839920" y="477840"/>
                  <a:pt x="826744" y="477840"/>
                </a:cubicBezTo>
                <a:cubicBezTo>
                  <a:pt x="813569" y="477840"/>
                  <a:pt x="802887" y="467868"/>
                  <a:pt x="802887" y="455566"/>
                </a:cubicBezTo>
                <a:cubicBezTo>
                  <a:pt x="802887" y="443265"/>
                  <a:pt x="813569" y="433293"/>
                  <a:pt x="826744" y="433293"/>
                </a:cubicBezTo>
                <a:cubicBezTo>
                  <a:pt x="839914" y="433287"/>
                  <a:pt x="850594" y="443249"/>
                  <a:pt x="850601" y="455545"/>
                </a:cubicBezTo>
                <a:cubicBezTo>
                  <a:pt x="850601" y="455553"/>
                  <a:pt x="850601" y="455560"/>
                  <a:pt x="850601" y="455566"/>
                </a:cubicBezTo>
                <a:close/>
                <a:moveTo>
                  <a:pt x="1051560" y="455566"/>
                </a:moveTo>
                <a:cubicBezTo>
                  <a:pt x="1051560" y="467868"/>
                  <a:pt x="1040879" y="477840"/>
                  <a:pt x="1027703" y="477840"/>
                </a:cubicBezTo>
                <a:cubicBezTo>
                  <a:pt x="1014527" y="477840"/>
                  <a:pt x="1003846" y="467868"/>
                  <a:pt x="1003846" y="455566"/>
                </a:cubicBezTo>
                <a:cubicBezTo>
                  <a:pt x="1003846" y="443265"/>
                  <a:pt x="1014527" y="433293"/>
                  <a:pt x="1027703" y="433293"/>
                </a:cubicBezTo>
                <a:cubicBezTo>
                  <a:pt x="1040872" y="433307"/>
                  <a:pt x="1051545" y="443271"/>
                  <a:pt x="1051560" y="455566"/>
                </a:cubicBezTo>
                <a:close/>
                <a:moveTo>
                  <a:pt x="46815" y="600026"/>
                </a:moveTo>
                <a:cubicBezTo>
                  <a:pt x="46815" y="612328"/>
                  <a:pt x="36134" y="622300"/>
                  <a:pt x="22958" y="622300"/>
                </a:cubicBezTo>
                <a:cubicBezTo>
                  <a:pt x="9782" y="622300"/>
                  <a:pt x="-899" y="612328"/>
                  <a:pt x="-899" y="600026"/>
                </a:cubicBezTo>
                <a:cubicBezTo>
                  <a:pt x="-899" y="587725"/>
                  <a:pt x="9782" y="577752"/>
                  <a:pt x="22958" y="577752"/>
                </a:cubicBezTo>
                <a:cubicBezTo>
                  <a:pt x="36129" y="577746"/>
                  <a:pt x="46809" y="587709"/>
                  <a:pt x="46815" y="600005"/>
                </a:cubicBezTo>
                <a:cubicBezTo>
                  <a:pt x="46815" y="600012"/>
                  <a:pt x="46815" y="600018"/>
                  <a:pt x="46815" y="600026"/>
                </a:cubicBezTo>
                <a:close/>
                <a:moveTo>
                  <a:pt x="247776" y="600026"/>
                </a:moveTo>
                <a:cubicBezTo>
                  <a:pt x="247776" y="612328"/>
                  <a:pt x="237095" y="622300"/>
                  <a:pt x="223919" y="622300"/>
                </a:cubicBezTo>
                <a:cubicBezTo>
                  <a:pt x="210744" y="622300"/>
                  <a:pt x="200062" y="612328"/>
                  <a:pt x="200062" y="600026"/>
                </a:cubicBezTo>
                <a:cubicBezTo>
                  <a:pt x="200062" y="587725"/>
                  <a:pt x="210744" y="577752"/>
                  <a:pt x="223919" y="577752"/>
                </a:cubicBezTo>
                <a:cubicBezTo>
                  <a:pt x="237087" y="577766"/>
                  <a:pt x="247761" y="587731"/>
                  <a:pt x="247776" y="600026"/>
                </a:cubicBezTo>
                <a:close/>
                <a:moveTo>
                  <a:pt x="448680" y="600026"/>
                </a:moveTo>
                <a:cubicBezTo>
                  <a:pt x="448680" y="612328"/>
                  <a:pt x="437998" y="622300"/>
                  <a:pt x="424823" y="622300"/>
                </a:cubicBezTo>
                <a:cubicBezTo>
                  <a:pt x="411647" y="622300"/>
                  <a:pt x="400966" y="612328"/>
                  <a:pt x="400966" y="600026"/>
                </a:cubicBezTo>
                <a:cubicBezTo>
                  <a:pt x="400966" y="587725"/>
                  <a:pt x="411647" y="577752"/>
                  <a:pt x="424823" y="577752"/>
                </a:cubicBezTo>
                <a:cubicBezTo>
                  <a:pt x="437993" y="577746"/>
                  <a:pt x="448673" y="587709"/>
                  <a:pt x="448680" y="600005"/>
                </a:cubicBezTo>
                <a:cubicBezTo>
                  <a:pt x="448680" y="600012"/>
                  <a:pt x="448680" y="600018"/>
                  <a:pt x="448680" y="600026"/>
                </a:cubicBezTo>
                <a:close/>
                <a:moveTo>
                  <a:pt x="649641" y="600026"/>
                </a:moveTo>
                <a:cubicBezTo>
                  <a:pt x="649641" y="612328"/>
                  <a:pt x="638960" y="622300"/>
                  <a:pt x="625784" y="622300"/>
                </a:cubicBezTo>
                <a:cubicBezTo>
                  <a:pt x="612608" y="622300"/>
                  <a:pt x="601927" y="612328"/>
                  <a:pt x="601927" y="600026"/>
                </a:cubicBezTo>
                <a:cubicBezTo>
                  <a:pt x="601927" y="587725"/>
                  <a:pt x="612608" y="577752"/>
                  <a:pt x="625784" y="577752"/>
                </a:cubicBezTo>
                <a:cubicBezTo>
                  <a:pt x="638954" y="577746"/>
                  <a:pt x="649633" y="587709"/>
                  <a:pt x="649641" y="600005"/>
                </a:cubicBezTo>
                <a:cubicBezTo>
                  <a:pt x="649641" y="600012"/>
                  <a:pt x="649641" y="600018"/>
                  <a:pt x="649641" y="600026"/>
                </a:cubicBezTo>
                <a:close/>
                <a:moveTo>
                  <a:pt x="850601" y="600026"/>
                </a:moveTo>
                <a:cubicBezTo>
                  <a:pt x="850601" y="612328"/>
                  <a:pt x="839920" y="622300"/>
                  <a:pt x="826744" y="622300"/>
                </a:cubicBezTo>
                <a:cubicBezTo>
                  <a:pt x="813569" y="622300"/>
                  <a:pt x="802887" y="612328"/>
                  <a:pt x="802887" y="600026"/>
                </a:cubicBezTo>
                <a:cubicBezTo>
                  <a:pt x="802887" y="587725"/>
                  <a:pt x="813569" y="577752"/>
                  <a:pt x="826744" y="577752"/>
                </a:cubicBezTo>
                <a:cubicBezTo>
                  <a:pt x="839914" y="577746"/>
                  <a:pt x="850594" y="587709"/>
                  <a:pt x="850601" y="600005"/>
                </a:cubicBezTo>
                <a:cubicBezTo>
                  <a:pt x="850601" y="600012"/>
                  <a:pt x="850601" y="600018"/>
                  <a:pt x="850601" y="600026"/>
                </a:cubicBezTo>
                <a:close/>
                <a:moveTo>
                  <a:pt x="1051560" y="600026"/>
                </a:moveTo>
                <a:cubicBezTo>
                  <a:pt x="1051560" y="612328"/>
                  <a:pt x="1040879" y="622300"/>
                  <a:pt x="1027703" y="622300"/>
                </a:cubicBezTo>
                <a:cubicBezTo>
                  <a:pt x="1014527" y="622300"/>
                  <a:pt x="1003846" y="612328"/>
                  <a:pt x="1003846" y="600026"/>
                </a:cubicBezTo>
                <a:cubicBezTo>
                  <a:pt x="1003846" y="587725"/>
                  <a:pt x="1014527" y="577752"/>
                  <a:pt x="1027703" y="577752"/>
                </a:cubicBezTo>
                <a:cubicBezTo>
                  <a:pt x="1040872" y="577766"/>
                  <a:pt x="1051545" y="587731"/>
                  <a:pt x="1051560" y="600026"/>
                </a:cubicBezTo>
                <a:close/>
              </a:path>
            </a:pathLst>
          </a:custGeom>
          <a:solidFill>
            <a:srgbClr val="2483EB"/>
          </a:solidFill>
        </p:spPr>
      </p:sp>
      <p:sp>
        <p:nvSpPr>
          <p:cNvPr id="11" name="Text 3"/>
          <p:cNvSpPr/>
          <p:nvPr/>
        </p:nvSpPr>
        <p:spPr>
          <a:xfrm>
            <a:off x="4222115" y="767080"/>
            <a:ext cx="7359015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6600" b="1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电商行为解码：从数据到增长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3:38-d2v6q2lnfo2stf9dk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8945"/>
            <a:ext cx="12192000" cy="132905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3:37-d2v6q2dnfo2stf9dk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4652645"/>
            <a:ext cx="5304790" cy="73152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3:43:37-d2v6q2dnfo2stf9dk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75" y="3495040"/>
            <a:ext cx="5304790" cy="7315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8-13:43:37-d2v6q2dnfo2stf9dk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75" y="2352040"/>
            <a:ext cx="5304790" cy="731520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8-13:43:37-d2v6q2dnfo2stf9dk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3504565"/>
            <a:ext cx="5304790" cy="731520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09-08-13:43:37-d2v6q2dnfo2stf9dk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2374265"/>
            <a:ext cx="5304790" cy="731520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09-08-13:43:38-d2v6q2lnfo2stf9dk95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2753" y="2374900"/>
            <a:ext cx="708660" cy="708660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09-08-13:43:38-d2v6q2lnfo2stf9dk95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2753" y="3517265"/>
            <a:ext cx="708660" cy="708660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09-08-13:43:38-d2v6q2lnfo2stf9dk95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01093" y="2360930"/>
            <a:ext cx="708660" cy="708660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09-08-13:43:38-d2v6q2lnfo2stf9dk95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01093" y="3495675"/>
            <a:ext cx="708660" cy="708660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09-08-13:43:38-d2v6q2lnfo2stf9dk95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2753" y="4655820"/>
            <a:ext cx="708660" cy="708660"/>
          </a:xfrm>
          <a:prstGeom prst="rect">
            <a:avLst/>
          </a:prstGeom>
        </p:spPr>
      </p:pic>
      <p:sp>
        <p:nvSpPr>
          <p:cNvPr id="14" name="Shape 0"/>
          <p:cNvSpPr/>
          <p:nvPr/>
        </p:nvSpPr>
        <p:spPr>
          <a:xfrm>
            <a:off x="4042410" y="827405"/>
            <a:ext cx="1051560" cy="622300"/>
          </a:xfrm>
          <a:custGeom>
            <a:avLst/>
            <a:gdLst/>
            <a:ahLst/>
            <a:cxnLst/>
            <a:rect l="l" t="t" r="r" b="b"/>
            <a:pathLst>
              <a:path w="1051560" h="622300">
                <a:moveTo>
                  <a:pt x="46815" y="22187"/>
                </a:moveTo>
                <a:cubicBezTo>
                  <a:pt x="46815" y="34488"/>
                  <a:pt x="36134" y="44461"/>
                  <a:pt x="22958" y="44461"/>
                </a:cubicBezTo>
                <a:cubicBezTo>
                  <a:pt x="9782" y="44461"/>
                  <a:pt x="-899" y="34488"/>
                  <a:pt x="-899" y="22187"/>
                </a:cubicBezTo>
                <a:cubicBezTo>
                  <a:pt x="-899" y="9885"/>
                  <a:pt x="9782" y="-87"/>
                  <a:pt x="22958" y="-87"/>
                </a:cubicBezTo>
                <a:cubicBezTo>
                  <a:pt x="36129" y="-93"/>
                  <a:pt x="46809" y="9871"/>
                  <a:pt x="46815" y="22165"/>
                </a:cubicBezTo>
                <a:cubicBezTo>
                  <a:pt x="46815" y="22173"/>
                  <a:pt x="46815" y="22180"/>
                  <a:pt x="46815" y="22187"/>
                </a:cubicBezTo>
                <a:close/>
                <a:moveTo>
                  <a:pt x="247776" y="22187"/>
                </a:moveTo>
                <a:cubicBezTo>
                  <a:pt x="247776" y="34488"/>
                  <a:pt x="237095" y="44461"/>
                  <a:pt x="223919" y="44461"/>
                </a:cubicBezTo>
                <a:cubicBezTo>
                  <a:pt x="210744" y="44461"/>
                  <a:pt x="200062" y="34488"/>
                  <a:pt x="200062" y="22187"/>
                </a:cubicBezTo>
                <a:cubicBezTo>
                  <a:pt x="200062" y="9885"/>
                  <a:pt x="210744" y="-87"/>
                  <a:pt x="223919" y="-87"/>
                </a:cubicBezTo>
                <a:cubicBezTo>
                  <a:pt x="237087" y="-72"/>
                  <a:pt x="247761" y="9891"/>
                  <a:pt x="247776" y="22187"/>
                </a:cubicBezTo>
                <a:close/>
                <a:moveTo>
                  <a:pt x="448680" y="22187"/>
                </a:moveTo>
                <a:cubicBezTo>
                  <a:pt x="448680" y="34488"/>
                  <a:pt x="437998" y="44461"/>
                  <a:pt x="424823" y="44461"/>
                </a:cubicBezTo>
                <a:cubicBezTo>
                  <a:pt x="411647" y="44461"/>
                  <a:pt x="400966" y="34488"/>
                  <a:pt x="400966" y="22187"/>
                </a:cubicBezTo>
                <a:cubicBezTo>
                  <a:pt x="400966" y="9885"/>
                  <a:pt x="411647" y="-87"/>
                  <a:pt x="424823" y="-87"/>
                </a:cubicBezTo>
                <a:cubicBezTo>
                  <a:pt x="437993" y="-93"/>
                  <a:pt x="448673" y="9871"/>
                  <a:pt x="448680" y="22165"/>
                </a:cubicBezTo>
                <a:cubicBezTo>
                  <a:pt x="448680" y="22173"/>
                  <a:pt x="448680" y="22180"/>
                  <a:pt x="448680" y="22187"/>
                </a:cubicBezTo>
                <a:close/>
                <a:moveTo>
                  <a:pt x="649641" y="22187"/>
                </a:moveTo>
                <a:cubicBezTo>
                  <a:pt x="649641" y="34488"/>
                  <a:pt x="638960" y="44461"/>
                  <a:pt x="625784" y="44461"/>
                </a:cubicBezTo>
                <a:cubicBezTo>
                  <a:pt x="612608" y="44461"/>
                  <a:pt x="601927" y="34488"/>
                  <a:pt x="601927" y="22187"/>
                </a:cubicBezTo>
                <a:cubicBezTo>
                  <a:pt x="601927" y="9885"/>
                  <a:pt x="612608" y="-87"/>
                  <a:pt x="625784" y="-87"/>
                </a:cubicBezTo>
                <a:cubicBezTo>
                  <a:pt x="638954" y="-93"/>
                  <a:pt x="649633" y="9871"/>
                  <a:pt x="649641" y="22165"/>
                </a:cubicBezTo>
                <a:cubicBezTo>
                  <a:pt x="649641" y="22173"/>
                  <a:pt x="649641" y="22180"/>
                  <a:pt x="649641" y="22187"/>
                </a:cubicBezTo>
                <a:close/>
                <a:moveTo>
                  <a:pt x="850601" y="22187"/>
                </a:moveTo>
                <a:cubicBezTo>
                  <a:pt x="850601" y="34488"/>
                  <a:pt x="839920" y="44461"/>
                  <a:pt x="826744" y="44461"/>
                </a:cubicBezTo>
                <a:cubicBezTo>
                  <a:pt x="813569" y="44461"/>
                  <a:pt x="802887" y="34488"/>
                  <a:pt x="802887" y="22187"/>
                </a:cubicBezTo>
                <a:cubicBezTo>
                  <a:pt x="802887" y="9885"/>
                  <a:pt x="813569" y="-87"/>
                  <a:pt x="826744" y="-87"/>
                </a:cubicBezTo>
                <a:cubicBezTo>
                  <a:pt x="839914" y="-93"/>
                  <a:pt x="850594" y="9871"/>
                  <a:pt x="850601" y="22165"/>
                </a:cubicBezTo>
                <a:cubicBezTo>
                  <a:pt x="850601" y="22173"/>
                  <a:pt x="850601" y="22180"/>
                  <a:pt x="850601" y="22187"/>
                </a:cubicBezTo>
                <a:close/>
                <a:moveTo>
                  <a:pt x="1051560" y="22187"/>
                </a:moveTo>
                <a:cubicBezTo>
                  <a:pt x="1051560" y="34488"/>
                  <a:pt x="1040879" y="44461"/>
                  <a:pt x="1027703" y="44461"/>
                </a:cubicBezTo>
                <a:cubicBezTo>
                  <a:pt x="1014527" y="44461"/>
                  <a:pt x="1003846" y="34488"/>
                  <a:pt x="1003846" y="22187"/>
                </a:cubicBezTo>
                <a:cubicBezTo>
                  <a:pt x="1003846" y="9885"/>
                  <a:pt x="1014527" y="-87"/>
                  <a:pt x="1027703" y="-87"/>
                </a:cubicBezTo>
                <a:cubicBezTo>
                  <a:pt x="1040872" y="-72"/>
                  <a:pt x="1051545" y="9891"/>
                  <a:pt x="1051560" y="22187"/>
                </a:cubicBezTo>
                <a:close/>
                <a:moveTo>
                  <a:pt x="46815" y="166647"/>
                </a:moveTo>
                <a:cubicBezTo>
                  <a:pt x="46815" y="178948"/>
                  <a:pt x="36134" y="188920"/>
                  <a:pt x="22958" y="188920"/>
                </a:cubicBezTo>
                <a:cubicBezTo>
                  <a:pt x="9782" y="188920"/>
                  <a:pt x="-899" y="178948"/>
                  <a:pt x="-899" y="166647"/>
                </a:cubicBezTo>
                <a:cubicBezTo>
                  <a:pt x="-899" y="154345"/>
                  <a:pt x="9782" y="144373"/>
                  <a:pt x="22958" y="144373"/>
                </a:cubicBezTo>
                <a:cubicBezTo>
                  <a:pt x="36129" y="144367"/>
                  <a:pt x="46809" y="154331"/>
                  <a:pt x="46815" y="166626"/>
                </a:cubicBezTo>
                <a:cubicBezTo>
                  <a:pt x="46815" y="166633"/>
                  <a:pt x="46815" y="166640"/>
                  <a:pt x="46815" y="166647"/>
                </a:cubicBezTo>
                <a:close/>
                <a:moveTo>
                  <a:pt x="247776" y="166647"/>
                </a:moveTo>
                <a:cubicBezTo>
                  <a:pt x="247776" y="178948"/>
                  <a:pt x="237095" y="188920"/>
                  <a:pt x="223919" y="188920"/>
                </a:cubicBezTo>
                <a:cubicBezTo>
                  <a:pt x="210744" y="188920"/>
                  <a:pt x="200062" y="178948"/>
                  <a:pt x="200062" y="166647"/>
                </a:cubicBezTo>
                <a:cubicBezTo>
                  <a:pt x="200062" y="154345"/>
                  <a:pt x="210744" y="144373"/>
                  <a:pt x="223919" y="144373"/>
                </a:cubicBezTo>
                <a:cubicBezTo>
                  <a:pt x="237087" y="144388"/>
                  <a:pt x="247761" y="154351"/>
                  <a:pt x="247776" y="166647"/>
                </a:cubicBezTo>
                <a:close/>
                <a:moveTo>
                  <a:pt x="448680" y="166647"/>
                </a:moveTo>
                <a:cubicBezTo>
                  <a:pt x="448680" y="178948"/>
                  <a:pt x="437998" y="188920"/>
                  <a:pt x="424823" y="188920"/>
                </a:cubicBezTo>
                <a:cubicBezTo>
                  <a:pt x="411647" y="188920"/>
                  <a:pt x="400966" y="178948"/>
                  <a:pt x="400966" y="166647"/>
                </a:cubicBezTo>
                <a:cubicBezTo>
                  <a:pt x="400966" y="154345"/>
                  <a:pt x="411647" y="144373"/>
                  <a:pt x="424823" y="144373"/>
                </a:cubicBezTo>
                <a:cubicBezTo>
                  <a:pt x="437993" y="144367"/>
                  <a:pt x="448673" y="154331"/>
                  <a:pt x="448680" y="166626"/>
                </a:cubicBezTo>
                <a:cubicBezTo>
                  <a:pt x="448680" y="166633"/>
                  <a:pt x="448680" y="166640"/>
                  <a:pt x="448680" y="166647"/>
                </a:cubicBezTo>
                <a:close/>
                <a:moveTo>
                  <a:pt x="649641" y="166647"/>
                </a:moveTo>
                <a:cubicBezTo>
                  <a:pt x="649641" y="178948"/>
                  <a:pt x="638960" y="188920"/>
                  <a:pt x="625784" y="188920"/>
                </a:cubicBezTo>
                <a:cubicBezTo>
                  <a:pt x="612608" y="188920"/>
                  <a:pt x="601927" y="178948"/>
                  <a:pt x="601927" y="166647"/>
                </a:cubicBezTo>
                <a:cubicBezTo>
                  <a:pt x="601927" y="154345"/>
                  <a:pt x="612608" y="144373"/>
                  <a:pt x="625784" y="144373"/>
                </a:cubicBezTo>
                <a:cubicBezTo>
                  <a:pt x="638954" y="144367"/>
                  <a:pt x="649633" y="154331"/>
                  <a:pt x="649641" y="166626"/>
                </a:cubicBezTo>
                <a:cubicBezTo>
                  <a:pt x="649641" y="166633"/>
                  <a:pt x="649641" y="166640"/>
                  <a:pt x="649641" y="166647"/>
                </a:cubicBezTo>
                <a:close/>
                <a:moveTo>
                  <a:pt x="850601" y="166647"/>
                </a:moveTo>
                <a:cubicBezTo>
                  <a:pt x="850601" y="178948"/>
                  <a:pt x="839920" y="188920"/>
                  <a:pt x="826744" y="188920"/>
                </a:cubicBezTo>
                <a:cubicBezTo>
                  <a:pt x="813569" y="188920"/>
                  <a:pt x="802887" y="178948"/>
                  <a:pt x="802887" y="166647"/>
                </a:cubicBezTo>
                <a:cubicBezTo>
                  <a:pt x="802887" y="154345"/>
                  <a:pt x="813569" y="144373"/>
                  <a:pt x="826744" y="144373"/>
                </a:cubicBezTo>
                <a:cubicBezTo>
                  <a:pt x="839914" y="144367"/>
                  <a:pt x="850594" y="154331"/>
                  <a:pt x="850601" y="166626"/>
                </a:cubicBezTo>
                <a:cubicBezTo>
                  <a:pt x="850601" y="166633"/>
                  <a:pt x="850601" y="166640"/>
                  <a:pt x="850601" y="166647"/>
                </a:cubicBezTo>
                <a:close/>
                <a:moveTo>
                  <a:pt x="1051560" y="166647"/>
                </a:moveTo>
                <a:cubicBezTo>
                  <a:pt x="1051560" y="178948"/>
                  <a:pt x="1040879" y="188920"/>
                  <a:pt x="1027703" y="188920"/>
                </a:cubicBezTo>
                <a:cubicBezTo>
                  <a:pt x="1014527" y="188920"/>
                  <a:pt x="1003846" y="178948"/>
                  <a:pt x="1003846" y="166647"/>
                </a:cubicBezTo>
                <a:cubicBezTo>
                  <a:pt x="1003846" y="154345"/>
                  <a:pt x="1014527" y="144373"/>
                  <a:pt x="1027703" y="144373"/>
                </a:cubicBezTo>
                <a:cubicBezTo>
                  <a:pt x="1040872" y="144388"/>
                  <a:pt x="1051545" y="154351"/>
                  <a:pt x="1051560" y="166647"/>
                </a:cubicBezTo>
                <a:close/>
                <a:moveTo>
                  <a:pt x="46815" y="311107"/>
                </a:moveTo>
                <a:cubicBezTo>
                  <a:pt x="46815" y="323408"/>
                  <a:pt x="36134" y="333380"/>
                  <a:pt x="22958" y="333380"/>
                </a:cubicBezTo>
                <a:cubicBezTo>
                  <a:pt x="9782" y="333380"/>
                  <a:pt x="-899" y="323408"/>
                  <a:pt x="-899" y="311107"/>
                </a:cubicBezTo>
                <a:cubicBezTo>
                  <a:pt x="-899" y="298805"/>
                  <a:pt x="9782" y="288833"/>
                  <a:pt x="22958" y="288833"/>
                </a:cubicBezTo>
                <a:cubicBezTo>
                  <a:pt x="36129" y="288827"/>
                  <a:pt x="46809" y="298789"/>
                  <a:pt x="46815" y="311085"/>
                </a:cubicBezTo>
                <a:cubicBezTo>
                  <a:pt x="46815" y="311092"/>
                  <a:pt x="46815" y="311100"/>
                  <a:pt x="46815" y="311107"/>
                </a:cubicBezTo>
                <a:close/>
                <a:moveTo>
                  <a:pt x="247776" y="311107"/>
                </a:moveTo>
                <a:cubicBezTo>
                  <a:pt x="247776" y="323408"/>
                  <a:pt x="237095" y="333380"/>
                  <a:pt x="223919" y="333380"/>
                </a:cubicBezTo>
                <a:cubicBezTo>
                  <a:pt x="210744" y="333380"/>
                  <a:pt x="200062" y="323408"/>
                  <a:pt x="200062" y="311107"/>
                </a:cubicBezTo>
                <a:cubicBezTo>
                  <a:pt x="200062" y="298805"/>
                  <a:pt x="210744" y="288833"/>
                  <a:pt x="223919" y="288833"/>
                </a:cubicBezTo>
                <a:cubicBezTo>
                  <a:pt x="237087" y="288847"/>
                  <a:pt x="247761" y="298811"/>
                  <a:pt x="247776" y="311107"/>
                </a:cubicBezTo>
                <a:close/>
                <a:moveTo>
                  <a:pt x="448680" y="311107"/>
                </a:moveTo>
                <a:cubicBezTo>
                  <a:pt x="448680" y="323408"/>
                  <a:pt x="437998" y="333380"/>
                  <a:pt x="424823" y="333380"/>
                </a:cubicBezTo>
                <a:cubicBezTo>
                  <a:pt x="411647" y="333380"/>
                  <a:pt x="400966" y="323408"/>
                  <a:pt x="400966" y="311107"/>
                </a:cubicBezTo>
                <a:cubicBezTo>
                  <a:pt x="400966" y="298805"/>
                  <a:pt x="411647" y="288833"/>
                  <a:pt x="424823" y="288833"/>
                </a:cubicBezTo>
                <a:cubicBezTo>
                  <a:pt x="437993" y="288827"/>
                  <a:pt x="448673" y="298789"/>
                  <a:pt x="448680" y="311085"/>
                </a:cubicBezTo>
                <a:cubicBezTo>
                  <a:pt x="448680" y="311092"/>
                  <a:pt x="448680" y="311100"/>
                  <a:pt x="448680" y="311107"/>
                </a:cubicBezTo>
                <a:close/>
                <a:moveTo>
                  <a:pt x="649641" y="311107"/>
                </a:moveTo>
                <a:cubicBezTo>
                  <a:pt x="649641" y="323408"/>
                  <a:pt x="638960" y="333380"/>
                  <a:pt x="625784" y="333380"/>
                </a:cubicBezTo>
                <a:cubicBezTo>
                  <a:pt x="612608" y="333380"/>
                  <a:pt x="601927" y="323408"/>
                  <a:pt x="601927" y="311107"/>
                </a:cubicBezTo>
                <a:cubicBezTo>
                  <a:pt x="601927" y="298805"/>
                  <a:pt x="612608" y="288833"/>
                  <a:pt x="625784" y="288833"/>
                </a:cubicBezTo>
                <a:cubicBezTo>
                  <a:pt x="638954" y="288827"/>
                  <a:pt x="649633" y="298789"/>
                  <a:pt x="649641" y="311085"/>
                </a:cubicBezTo>
                <a:cubicBezTo>
                  <a:pt x="649641" y="311092"/>
                  <a:pt x="649641" y="311100"/>
                  <a:pt x="649641" y="311107"/>
                </a:cubicBezTo>
                <a:close/>
                <a:moveTo>
                  <a:pt x="850601" y="311107"/>
                </a:moveTo>
                <a:cubicBezTo>
                  <a:pt x="850601" y="323408"/>
                  <a:pt x="839920" y="333380"/>
                  <a:pt x="826744" y="333380"/>
                </a:cubicBezTo>
                <a:cubicBezTo>
                  <a:pt x="813569" y="333380"/>
                  <a:pt x="802887" y="323408"/>
                  <a:pt x="802887" y="311107"/>
                </a:cubicBezTo>
                <a:cubicBezTo>
                  <a:pt x="802887" y="298805"/>
                  <a:pt x="813569" y="288833"/>
                  <a:pt x="826744" y="288833"/>
                </a:cubicBezTo>
                <a:cubicBezTo>
                  <a:pt x="839914" y="288827"/>
                  <a:pt x="850594" y="298789"/>
                  <a:pt x="850601" y="311085"/>
                </a:cubicBezTo>
                <a:cubicBezTo>
                  <a:pt x="850601" y="311092"/>
                  <a:pt x="850601" y="311100"/>
                  <a:pt x="850601" y="311107"/>
                </a:cubicBezTo>
                <a:close/>
                <a:moveTo>
                  <a:pt x="1051560" y="311107"/>
                </a:moveTo>
                <a:cubicBezTo>
                  <a:pt x="1051560" y="323408"/>
                  <a:pt x="1040879" y="333380"/>
                  <a:pt x="1027703" y="333380"/>
                </a:cubicBezTo>
                <a:cubicBezTo>
                  <a:pt x="1014527" y="333380"/>
                  <a:pt x="1003846" y="323408"/>
                  <a:pt x="1003846" y="311107"/>
                </a:cubicBezTo>
                <a:cubicBezTo>
                  <a:pt x="1003846" y="298805"/>
                  <a:pt x="1014527" y="288833"/>
                  <a:pt x="1027703" y="288833"/>
                </a:cubicBezTo>
                <a:cubicBezTo>
                  <a:pt x="1040872" y="288847"/>
                  <a:pt x="1051545" y="298811"/>
                  <a:pt x="1051560" y="311107"/>
                </a:cubicBezTo>
                <a:close/>
                <a:moveTo>
                  <a:pt x="46815" y="455566"/>
                </a:moveTo>
                <a:cubicBezTo>
                  <a:pt x="46815" y="467868"/>
                  <a:pt x="36134" y="477840"/>
                  <a:pt x="22958" y="477840"/>
                </a:cubicBezTo>
                <a:cubicBezTo>
                  <a:pt x="9782" y="477840"/>
                  <a:pt x="-899" y="467868"/>
                  <a:pt x="-899" y="455566"/>
                </a:cubicBezTo>
                <a:cubicBezTo>
                  <a:pt x="-899" y="443265"/>
                  <a:pt x="9782" y="433293"/>
                  <a:pt x="22958" y="433293"/>
                </a:cubicBezTo>
                <a:cubicBezTo>
                  <a:pt x="36129" y="433287"/>
                  <a:pt x="46809" y="443249"/>
                  <a:pt x="46815" y="455545"/>
                </a:cubicBezTo>
                <a:cubicBezTo>
                  <a:pt x="46815" y="455553"/>
                  <a:pt x="46815" y="455560"/>
                  <a:pt x="46815" y="455566"/>
                </a:cubicBezTo>
                <a:close/>
                <a:moveTo>
                  <a:pt x="247776" y="455566"/>
                </a:moveTo>
                <a:cubicBezTo>
                  <a:pt x="247776" y="467868"/>
                  <a:pt x="237095" y="477840"/>
                  <a:pt x="223919" y="477840"/>
                </a:cubicBezTo>
                <a:cubicBezTo>
                  <a:pt x="210744" y="477840"/>
                  <a:pt x="200062" y="467868"/>
                  <a:pt x="200062" y="455566"/>
                </a:cubicBezTo>
                <a:cubicBezTo>
                  <a:pt x="200062" y="443265"/>
                  <a:pt x="210744" y="433293"/>
                  <a:pt x="223919" y="433293"/>
                </a:cubicBezTo>
                <a:cubicBezTo>
                  <a:pt x="237087" y="433307"/>
                  <a:pt x="247761" y="443271"/>
                  <a:pt x="247776" y="455566"/>
                </a:cubicBezTo>
                <a:close/>
                <a:moveTo>
                  <a:pt x="448680" y="455566"/>
                </a:moveTo>
                <a:cubicBezTo>
                  <a:pt x="448680" y="467868"/>
                  <a:pt x="437998" y="477840"/>
                  <a:pt x="424823" y="477840"/>
                </a:cubicBezTo>
                <a:cubicBezTo>
                  <a:pt x="411647" y="477840"/>
                  <a:pt x="400966" y="467868"/>
                  <a:pt x="400966" y="455566"/>
                </a:cubicBezTo>
                <a:cubicBezTo>
                  <a:pt x="400966" y="443265"/>
                  <a:pt x="411647" y="433293"/>
                  <a:pt x="424823" y="433293"/>
                </a:cubicBezTo>
                <a:cubicBezTo>
                  <a:pt x="437993" y="433287"/>
                  <a:pt x="448673" y="443249"/>
                  <a:pt x="448680" y="455545"/>
                </a:cubicBezTo>
                <a:cubicBezTo>
                  <a:pt x="448680" y="455553"/>
                  <a:pt x="448680" y="455560"/>
                  <a:pt x="448680" y="455566"/>
                </a:cubicBezTo>
                <a:close/>
                <a:moveTo>
                  <a:pt x="649641" y="455566"/>
                </a:moveTo>
                <a:cubicBezTo>
                  <a:pt x="649641" y="467868"/>
                  <a:pt x="638960" y="477840"/>
                  <a:pt x="625784" y="477840"/>
                </a:cubicBezTo>
                <a:cubicBezTo>
                  <a:pt x="612608" y="477840"/>
                  <a:pt x="601927" y="467868"/>
                  <a:pt x="601927" y="455566"/>
                </a:cubicBezTo>
                <a:cubicBezTo>
                  <a:pt x="601927" y="443265"/>
                  <a:pt x="612608" y="433293"/>
                  <a:pt x="625784" y="433293"/>
                </a:cubicBezTo>
                <a:cubicBezTo>
                  <a:pt x="638954" y="433287"/>
                  <a:pt x="649633" y="443249"/>
                  <a:pt x="649641" y="455545"/>
                </a:cubicBezTo>
                <a:cubicBezTo>
                  <a:pt x="649641" y="455553"/>
                  <a:pt x="649641" y="455560"/>
                  <a:pt x="649641" y="455566"/>
                </a:cubicBezTo>
                <a:close/>
                <a:moveTo>
                  <a:pt x="850601" y="455566"/>
                </a:moveTo>
                <a:cubicBezTo>
                  <a:pt x="850601" y="467868"/>
                  <a:pt x="839920" y="477840"/>
                  <a:pt x="826744" y="477840"/>
                </a:cubicBezTo>
                <a:cubicBezTo>
                  <a:pt x="813569" y="477840"/>
                  <a:pt x="802887" y="467868"/>
                  <a:pt x="802887" y="455566"/>
                </a:cubicBezTo>
                <a:cubicBezTo>
                  <a:pt x="802887" y="443265"/>
                  <a:pt x="813569" y="433293"/>
                  <a:pt x="826744" y="433293"/>
                </a:cubicBezTo>
                <a:cubicBezTo>
                  <a:pt x="839914" y="433287"/>
                  <a:pt x="850594" y="443249"/>
                  <a:pt x="850601" y="455545"/>
                </a:cubicBezTo>
                <a:cubicBezTo>
                  <a:pt x="850601" y="455553"/>
                  <a:pt x="850601" y="455560"/>
                  <a:pt x="850601" y="455566"/>
                </a:cubicBezTo>
                <a:close/>
                <a:moveTo>
                  <a:pt x="1051560" y="455566"/>
                </a:moveTo>
                <a:cubicBezTo>
                  <a:pt x="1051560" y="467868"/>
                  <a:pt x="1040879" y="477840"/>
                  <a:pt x="1027703" y="477840"/>
                </a:cubicBezTo>
                <a:cubicBezTo>
                  <a:pt x="1014527" y="477840"/>
                  <a:pt x="1003846" y="467868"/>
                  <a:pt x="1003846" y="455566"/>
                </a:cubicBezTo>
                <a:cubicBezTo>
                  <a:pt x="1003846" y="443265"/>
                  <a:pt x="1014527" y="433293"/>
                  <a:pt x="1027703" y="433293"/>
                </a:cubicBezTo>
                <a:cubicBezTo>
                  <a:pt x="1040872" y="433307"/>
                  <a:pt x="1051545" y="443271"/>
                  <a:pt x="1051560" y="455566"/>
                </a:cubicBezTo>
                <a:close/>
                <a:moveTo>
                  <a:pt x="46815" y="600026"/>
                </a:moveTo>
                <a:cubicBezTo>
                  <a:pt x="46815" y="612328"/>
                  <a:pt x="36134" y="622300"/>
                  <a:pt x="22958" y="622300"/>
                </a:cubicBezTo>
                <a:cubicBezTo>
                  <a:pt x="9782" y="622300"/>
                  <a:pt x="-899" y="612328"/>
                  <a:pt x="-899" y="600026"/>
                </a:cubicBezTo>
                <a:cubicBezTo>
                  <a:pt x="-899" y="587725"/>
                  <a:pt x="9782" y="577752"/>
                  <a:pt x="22958" y="577752"/>
                </a:cubicBezTo>
                <a:cubicBezTo>
                  <a:pt x="36129" y="577746"/>
                  <a:pt x="46809" y="587709"/>
                  <a:pt x="46815" y="600005"/>
                </a:cubicBezTo>
                <a:cubicBezTo>
                  <a:pt x="46815" y="600012"/>
                  <a:pt x="46815" y="600018"/>
                  <a:pt x="46815" y="600026"/>
                </a:cubicBezTo>
                <a:close/>
                <a:moveTo>
                  <a:pt x="247776" y="600026"/>
                </a:moveTo>
                <a:cubicBezTo>
                  <a:pt x="247776" y="612328"/>
                  <a:pt x="237095" y="622300"/>
                  <a:pt x="223919" y="622300"/>
                </a:cubicBezTo>
                <a:cubicBezTo>
                  <a:pt x="210744" y="622300"/>
                  <a:pt x="200062" y="612328"/>
                  <a:pt x="200062" y="600026"/>
                </a:cubicBezTo>
                <a:cubicBezTo>
                  <a:pt x="200062" y="587725"/>
                  <a:pt x="210744" y="577752"/>
                  <a:pt x="223919" y="577752"/>
                </a:cubicBezTo>
                <a:cubicBezTo>
                  <a:pt x="237087" y="577766"/>
                  <a:pt x="247761" y="587731"/>
                  <a:pt x="247776" y="600026"/>
                </a:cubicBezTo>
                <a:close/>
                <a:moveTo>
                  <a:pt x="448680" y="600026"/>
                </a:moveTo>
                <a:cubicBezTo>
                  <a:pt x="448680" y="612328"/>
                  <a:pt x="437998" y="622300"/>
                  <a:pt x="424823" y="622300"/>
                </a:cubicBezTo>
                <a:cubicBezTo>
                  <a:pt x="411647" y="622300"/>
                  <a:pt x="400966" y="612328"/>
                  <a:pt x="400966" y="600026"/>
                </a:cubicBezTo>
                <a:cubicBezTo>
                  <a:pt x="400966" y="587725"/>
                  <a:pt x="411647" y="577752"/>
                  <a:pt x="424823" y="577752"/>
                </a:cubicBezTo>
                <a:cubicBezTo>
                  <a:pt x="437993" y="577746"/>
                  <a:pt x="448673" y="587709"/>
                  <a:pt x="448680" y="600005"/>
                </a:cubicBezTo>
                <a:cubicBezTo>
                  <a:pt x="448680" y="600012"/>
                  <a:pt x="448680" y="600018"/>
                  <a:pt x="448680" y="600026"/>
                </a:cubicBezTo>
                <a:close/>
                <a:moveTo>
                  <a:pt x="649641" y="600026"/>
                </a:moveTo>
                <a:cubicBezTo>
                  <a:pt x="649641" y="612328"/>
                  <a:pt x="638960" y="622300"/>
                  <a:pt x="625784" y="622300"/>
                </a:cubicBezTo>
                <a:cubicBezTo>
                  <a:pt x="612608" y="622300"/>
                  <a:pt x="601927" y="612328"/>
                  <a:pt x="601927" y="600026"/>
                </a:cubicBezTo>
                <a:cubicBezTo>
                  <a:pt x="601927" y="587725"/>
                  <a:pt x="612608" y="577752"/>
                  <a:pt x="625784" y="577752"/>
                </a:cubicBezTo>
                <a:cubicBezTo>
                  <a:pt x="638954" y="577746"/>
                  <a:pt x="649633" y="587709"/>
                  <a:pt x="649641" y="600005"/>
                </a:cubicBezTo>
                <a:cubicBezTo>
                  <a:pt x="649641" y="600012"/>
                  <a:pt x="649641" y="600018"/>
                  <a:pt x="649641" y="600026"/>
                </a:cubicBezTo>
                <a:close/>
                <a:moveTo>
                  <a:pt x="850601" y="600026"/>
                </a:moveTo>
                <a:cubicBezTo>
                  <a:pt x="850601" y="612328"/>
                  <a:pt x="839920" y="622300"/>
                  <a:pt x="826744" y="622300"/>
                </a:cubicBezTo>
                <a:cubicBezTo>
                  <a:pt x="813569" y="622300"/>
                  <a:pt x="802887" y="612328"/>
                  <a:pt x="802887" y="600026"/>
                </a:cubicBezTo>
                <a:cubicBezTo>
                  <a:pt x="802887" y="587725"/>
                  <a:pt x="813569" y="577752"/>
                  <a:pt x="826744" y="577752"/>
                </a:cubicBezTo>
                <a:cubicBezTo>
                  <a:pt x="839914" y="577746"/>
                  <a:pt x="850594" y="587709"/>
                  <a:pt x="850601" y="600005"/>
                </a:cubicBezTo>
                <a:cubicBezTo>
                  <a:pt x="850601" y="600012"/>
                  <a:pt x="850601" y="600018"/>
                  <a:pt x="850601" y="600026"/>
                </a:cubicBezTo>
                <a:close/>
                <a:moveTo>
                  <a:pt x="1051560" y="600026"/>
                </a:moveTo>
                <a:cubicBezTo>
                  <a:pt x="1051560" y="612328"/>
                  <a:pt x="1040879" y="622300"/>
                  <a:pt x="1027703" y="622300"/>
                </a:cubicBezTo>
                <a:cubicBezTo>
                  <a:pt x="1014527" y="622300"/>
                  <a:pt x="1003846" y="612328"/>
                  <a:pt x="1003846" y="600026"/>
                </a:cubicBezTo>
                <a:cubicBezTo>
                  <a:pt x="1003846" y="587725"/>
                  <a:pt x="1014527" y="577752"/>
                  <a:pt x="1027703" y="577752"/>
                </a:cubicBezTo>
                <a:cubicBezTo>
                  <a:pt x="1040872" y="577766"/>
                  <a:pt x="1051545" y="587731"/>
                  <a:pt x="1051560" y="600026"/>
                </a:cubicBezTo>
                <a:close/>
              </a:path>
            </a:pathLst>
          </a:custGeom>
          <a:solidFill>
            <a:srgbClr val="2483EB"/>
          </a:solidFill>
        </p:spPr>
      </p:sp>
      <p:sp>
        <p:nvSpPr>
          <p:cNvPr id="15" name="Text 1"/>
          <p:cNvSpPr/>
          <p:nvPr/>
        </p:nvSpPr>
        <p:spPr>
          <a:xfrm>
            <a:off x="1235075" y="974090"/>
            <a:ext cx="1879600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6" name="Text 2"/>
          <p:cNvSpPr/>
          <p:nvPr/>
        </p:nvSpPr>
        <p:spPr>
          <a:xfrm>
            <a:off x="307340" y="595630"/>
            <a:ext cx="3735070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17" name="Image 12" descr="https://kimi-img.moonshot.cn/pub/slides/slides_tmpl/image/25-09-08-13:43:37-d2v6q2dnfo2stf9dk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130" y="4655820"/>
            <a:ext cx="5304790" cy="731520"/>
          </a:xfrm>
          <a:prstGeom prst="rect">
            <a:avLst/>
          </a:prstGeom>
        </p:spPr>
      </p:pic>
      <p:pic>
        <p:nvPicPr>
          <p:cNvPr id="18" name="Image 13" descr="https://kimi-img.moonshot.cn/pub/slides/slides_tmpl/image/25-09-08-13:43:38-d2v6q2lnfo2stf9dk95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09348" y="4658995"/>
            <a:ext cx="708660" cy="708660"/>
          </a:xfrm>
          <a:prstGeom prst="rect">
            <a:avLst/>
          </a:prstGeom>
        </p:spPr>
      </p:pic>
      <p:pic>
        <p:nvPicPr>
          <p:cNvPr id="19" name="Image 14" descr="https://kimi-img.moonshot.cn/pub/slides/slides_tmpl/image/25-09-08-13:43:38-d2v6q2lnfo2stf9dk9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614410" y="457835"/>
            <a:ext cx="2957830" cy="153098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367665" y="2455545"/>
            <a:ext cx="83883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4"/>
          <p:cNvSpPr/>
          <p:nvPr/>
        </p:nvSpPr>
        <p:spPr>
          <a:xfrm>
            <a:off x="1376045" y="2562225"/>
            <a:ext cx="45364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研究缘起与数据全貌</a:t>
            </a:r>
            <a:endParaRPr lang="en-US" sz="1600" dirty="0"/>
          </a:p>
        </p:txBody>
      </p:sp>
      <p:sp>
        <p:nvSpPr>
          <p:cNvPr id="22" name="Text 5"/>
          <p:cNvSpPr/>
          <p:nvPr/>
        </p:nvSpPr>
        <p:spPr>
          <a:xfrm>
            <a:off x="6136005" y="2441575"/>
            <a:ext cx="83883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6"/>
          <p:cNvSpPr/>
          <p:nvPr/>
        </p:nvSpPr>
        <p:spPr>
          <a:xfrm>
            <a:off x="7144385" y="2523490"/>
            <a:ext cx="45364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行为画像与转化卡点</a:t>
            </a:r>
            <a:endParaRPr lang="en-US" sz="1600" dirty="0"/>
          </a:p>
        </p:txBody>
      </p:sp>
      <p:sp>
        <p:nvSpPr>
          <p:cNvPr id="24" name="Text 7"/>
          <p:cNvSpPr/>
          <p:nvPr/>
        </p:nvSpPr>
        <p:spPr>
          <a:xfrm>
            <a:off x="367665" y="3597910"/>
            <a:ext cx="83883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8"/>
          <p:cNvSpPr/>
          <p:nvPr/>
        </p:nvSpPr>
        <p:spPr>
          <a:xfrm>
            <a:off x="1376045" y="3709035"/>
            <a:ext cx="45364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数据炼金与特征锻造</a:t>
            </a:r>
            <a:endParaRPr lang="en-US" sz="1600" dirty="0"/>
          </a:p>
        </p:txBody>
      </p:sp>
      <p:sp>
        <p:nvSpPr>
          <p:cNvPr id="26" name="Text 9"/>
          <p:cNvSpPr/>
          <p:nvPr/>
        </p:nvSpPr>
        <p:spPr>
          <a:xfrm>
            <a:off x="6136005" y="3576320"/>
            <a:ext cx="83883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7144385" y="3702685"/>
            <a:ext cx="45364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模型较量与性能解码</a:t>
            </a:r>
            <a:endParaRPr lang="en-US" sz="1600" dirty="0"/>
          </a:p>
        </p:txBody>
      </p:sp>
      <p:sp>
        <p:nvSpPr>
          <p:cNvPr id="28" name="Text 11"/>
          <p:cNvSpPr/>
          <p:nvPr/>
        </p:nvSpPr>
        <p:spPr>
          <a:xfrm>
            <a:off x="367665" y="4736465"/>
            <a:ext cx="83883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12"/>
          <p:cNvSpPr/>
          <p:nvPr/>
        </p:nvSpPr>
        <p:spPr>
          <a:xfrm>
            <a:off x="1376045" y="4872355"/>
            <a:ext cx="45364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用户分群与价值分层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6144260" y="4739640"/>
            <a:ext cx="83883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14"/>
          <p:cNvSpPr/>
          <p:nvPr/>
        </p:nvSpPr>
        <p:spPr>
          <a:xfrm>
            <a:off x="7152640" y="4875530"/>
            <a:ext cx="45364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增长策略与未来蓝图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4300220" y="2123440"/>
            <a:ext cx="359219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2483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20235" y="3606165"/>
            <a:ext cx="3352165" cy="1182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研究缘起与数据全貌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97000"/>
          </a:blip>
          <a:srcRect t="22162"/>
          <a:stretch>
            <a:fillRect/>
          </a:stretch>
        </p:blipFill>
        <p:spPr>
          <a:xfrm>
            <a:off x="6811010" y="549275"/>
            <a:ext cx="2052320" cy="173672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0" y="0"/>
            <a:ext cx="4420235" cy="68707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 flipH="1">
            <a:off x="7772400" y="0"/>
            <a:ext cx="44196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730500"/>
            <a:ext cx="44958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流量见顶下的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增长焦虑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40767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5" name="Shape 2"/>
          <p:cNvSpPr/>
          <p:nvPr/>
        </p:nvSpPr>
        <p:spPr>
          <a:xfrm>
            <a:off x="4927600" y="200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5022850" y="2133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2196F3"/>
          </a:solidFill>
        </p:spPr>
      </p:sp>
      <p:sp>
        <p:nvSpPr>
          <p:cNvPr id="7" name="Text 4"/>
          <p:cNvSpPr/>
          <p:nvPr/>
        </p:nvSpPr>
        <p:spPr>
          <a:xfrm>
            <a:off x="5638800" y="2006600"/>
            <a:ext cx="641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流量红利消失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38800" y="2362200"/>
            <a:ext cx="638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电商行业面临“流量红利见顶”与“用户转化成本上升”的严峻挑战，传统增长模式难以为继。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27600" y="3124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022850" y="32512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2196F3"/>
          </a:solidFill>
        </p:spPr>
      </p:sp>
      <p:sp>
        <p:nvSpPr>
          <p:cNvPr id="11" name="Text 8"/>
          <p:cNvSpPr/>
          <p:nvPr/>
        </p:nvSpPr>
        <p:spPr>
          <a:xfrm>
            <a:off x="5638800" y="3124200"/>
            <a:ext cx="641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数据转化困境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38800" y="3479800"/>
            <a:ext cx="638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海量用户行为数据沉睡，如何将其转化为可指导营销的行动洞察，成为提升竞争力的核心命题。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27600" y="424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5022850" y="4368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2196F3"/>
          </a:solidFill>
        </p:spPr>
      </p:sp>
      <p:sp>
        <p:nvSpPr>
          <p:cNvPr id="15" name="Text 12"/>
          <p:cNvSpPr/>
          <p:nvPr/>
        </p:nvSpPr>
        <p:spPr>
          <a:xfrm>
            <a:off x="5638800" y="4241800"/>
            <a:ext cx="5905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本研究使命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38800" y="4597400"/>
            <a:ext cx="588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用数据科学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精准预测购买、放大转化价值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，为精细化运营提供坚实支撑。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295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76万条行为日志速览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9550" y="17526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数据规模与字段清单，揭示“高浏览、低成交”的初步特征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311400"/>
            <a:ext cx="3759200" cy="3251200"/>
          </a:xfrm>
          <a:custGeom>
            <a:avLst/>
            <a:gdLst/>
            <a:ahLst/>
            <a:cxnLst/>
            <a:rect l="l" t="t" r="r" b="b"/>
            <a:pathLst>
              <a:path w="3759200" h="32512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3149600"/>
                </a:lnTo>
                <a:cubicBezTo>
                  <a:pt x="3759200" y="3205675"/>
                  <a:pt x="3713675" y="3251200"/>
                  <a:pt x="36576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847850" y="3352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2196F3"/>
          </a:solidFill>
        </p:spPr>
      </p:sp>
      <p:sp>
        <p:nvSpPr>
          <p:cNvPr id="7" name="Text 4"/>
          <p:cNvSpPr/>
          <p:nvPr/>
        </p:nvSpPr>
        <p:spPr>
          <a:xfrm>
            <a:off x="1619250" y="39116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用户维度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28725" y="4267200"/>
            <a:ext cx="1803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user_id, sex, address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16400" y="2311400"/>
            <a:ext cx="3759200" cy="1524000"/>
          </a:xfrm>
          <a:custGeom>
            <a:avLst/>
            <a:gdLst/>
            <a:ahLst/>
            <a:cxnLst/>
            <a:rect l="l" t="t" r="r" b="b"/>
            <a:pathLst>
              <a:path w="3759200" h="1524000">
                <a:moveTo>
                  <a:pt x="101605" y="0"/>
                </a:moveTo>
                <a:lnTo>
                  <a:pt x="3657595" y="0"/>
                </a:lnTo>
                <a:cubicBezTo>
                  <a:pt x="3713710" y="0"/>
                  <a:pt x="3759200" y="45490"/>
                  <a:pt x="3759200" y="101605"/>
                </a:cubicBezTo>
                <a:lnTo>
                  <a:pt x="3759200" y="1422395"/>
                </a:lnTo>
                <a:cubicBezTo>
                  <a:pt x="3759200" y="1478510"/>
                  <a:pt x="3713710" y="1524000"/>
                  <a:pt x="36575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419600" y="28829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2196F3"/>
          </a:solidFill>
        </p:spPr>
      </p:sp>
      <p:sp>
        <p:nvSpPr>
          <p:cNvPr id="11" name="Text 8"/>
          <p:cNvSpPr/>
          <p:nvPr/>
        </p:nvSpPr>
        <p:spPr>
          <a:xfrm>
            <a:off x="5048250" y="2768600"/>
            <a:ext cx="2463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商品维度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48250" y="3124200"/>
            <a:ext cx="2438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goods_id, category_id, price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78800" y="2311400"/>
            <a:ext cx="3759200" cy="1524000"/>
          </a:xfrm>
          <a:custGeom>
            <a:avLst/>
            <a:gdLst/>
            <a:ahLst/>
            <a:cxnLst/>
            <a:rect l="l" t="t" r="r" b="b"/>
            <a:pathLst>
              <a:path w="3759200" h="1524000">
                <a:moveTo>
                  <a:pt x="101605" y="0"/>
                </a:moveTo>
                <a:lnTo>
                  <a:pt x="3657595" y="0"/>
                </a:lnTo>
                <a:cubicBezTo>
                  <a:pt x="3713710" y="0"/>
                  <a:pt x="3759200" y="45490"/>
                  <a:pt x="3759200" y="101605"/>
                </a:cubicBezTo>
                <a:lnTo>
                  <a:pt x="3759200" y="1422395"/>
                </a:lnTo>
                <a:cubicBezTo>
                  <a:pt x="3759200" y="1478510"/>
                  <a:pt x="3713710" y="1524000"/>
                  <a:pt x="36575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8382000" y="28829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2196F3"/>
          </a:solidFill>
        </p:spPr>
      </p:sp>
      <p:sp>
        <p:nvSpPr>
          <p:cNvPr id="15" name="Text 12"/>
          <p:cNvSpPr/>
          <p:nvPr/>
        </p:nvSpPr>
        <p:spPr>
          <a:xfrm>
            <a:off x="9010650" y="2768600"/>
            <a:ext cx="184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行为维度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010650" y="3124200"/>
            <a:ext cx="181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behavior, timestamp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16400" y="4038600"/>
            <a:ext cx="7721600" cy="1524000"/>
          </a:xfrm>
          <a:custGeom>
            <a:avLst/>
            <a:gdLst/>
            <a:ahLst/>
            <a:cxnLst/>
            <a:rect l="l" t="t" r="r" b="b"/>
            <a:pathLst>
              <a:path w="7721600" h="1524000">
                <a:moveTo>
                  <a:pt x="101605" y="0"/>
                </a:moveTo>
                <a:lnTo>
                  <a:pt x="7619995" y="0"/>
                </a:lnTo>
                <a:cubicBezTo>
                  <a:pt x="7676110" y="0"/>
                  <a:pt x="7721600" y="45490"/>
                  <a:pt x="7721600" y="101605"/>
                </a:cubicBezTo>
                <a:lnTo>
                  <a:pt x="7721600" y="1422395"/>
                </a:lnTo>
                <a:cubicBezTo>
                  <a:pt x="7721600" y="1478510"/>
                  <a:pt x="7676110" y="1524000"/>
                  <a:pt x="76199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923949" y="4419600"/>
            <a:ext cx="1993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764,833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93799" y="4927600"/>
            <a:ext cx="185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总记录数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25594" y="4419600"/>
            <a:ext cx="939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995444" y="4927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核心字段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874091" y="4419600"/>
            <a:ext cx="1358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943941" y="49276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购买占比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4300220" y="2123440"/>
            <a:ext cx="359219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2483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20235" y="3606165"/>
            <a:ext cx="3352165" cy="1182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行为画像与转化卡点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97000"/>
          </a:blip>
          <a:srcRect t="22162"/>
          <a:stretch>
            <a:fillRect/>
          </a:stretch>
        </p:blipFill>
        <p:spPr>
          <a:xfrm>
            <a:off x="6811010" y="549275"/>
            <a:ext cx="2052320" cy="173672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0" y="0"/>
            <a:ext cx="4420235" cy="68707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 flipH="1">
            <a:off x="7772400" y="0"/>
            <a:ext cx="44196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489200"/>
            <a:ext cx="5727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行为金字塔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3048000"/>
            <a:ext cx="565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89%浏览行为，仅1.9%最终成交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606800"/>
            <a:ext cx="56261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典型的转化漏斗揭示了巨大的流失缺口。浏览行为占绝对主流，而加购、收藏等中间环节比例不足一成，最终购买转化率更是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不足二成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，这为我们锁定了“提升成交”这一核心目标。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6000" y="1498759"/>
            <a:ext cx="5842000" cy="1066800"/>
          </a:xfrm>
          <a:custGeom>
            <a:avLst/>
            <a:gdLst/>
            <a:ahLst/>
            <a:cxnLst/>
            <a:rect l="l" t="t" r="r" b="b"/>
            <a:pathLst>
              <a:path w="5842000" h="1066800">
                <a:moveTo>
                  <a:pt x="101602" y="0"/>
                </a:moveTo>
                <a:lnTo>
                  <a:pt x="5740398" y="0"/>
                </a:lnTo>
                <a:cubicBezTo>
                  <a:pt x="5796511" y="0"/>
                  <a:pt x="5842000" y="45489"/>
                  <a:pt x="5842000" y="101602"/>
                </a:cubicBezTo>
                <a:lnTo>
                  <a:pt x="5842000" y="1066800"/>
                </a:lnTo>
                <a:lnTo>
                  <a:pt x="0" y="1066800"/>
                </a:ln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6191250" y="1651159"/>
            <a:ext cx="565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浏览 (pv)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72200" y="2006759"/>
            <a:ext cx="5689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89.8%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680200" y="2565400"/>
            <a:ext cx="4673600" cy="863600"/>
          </a:xfrm>
          <a:custGeom>
            <a:avLst/>
            <a:gdLst/>
            <a:ahLst/>
            <a:cxnLst/>
            <a:rect l="l" t="t" r="r" b="b"/>
            <a:pathLst>
              <a:path w="4673600" h="863600">
                <a:moveTo>
                  <a:pt x="0" y="0"/>
                </a:moveTo>
                <a:lnTo>
                  <a:pt x="4673600" y="0"/>
                </a:lnTo>
                <a:lnTo>
                  <a:pt x="46736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64B5F6">
              <a:alpha val="5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731000" y="26670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加购 (cart)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18300" y="2971800"/>
            <a:ext cx="4597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5.6%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64400" y="3429000"/>
            <a:ext cx="3505200" cy="863600"/>
          </a:xfrm>
          <a:custGeom>
            <a:avLst/>
            <a:gdLst/>
            <a:ahLst/>
            <a:cxnLst/>
            <a:rect l="l" t="t" r="r" b="b"/>
            <a:pathLst>
              <a:path w="3505200" h="863600">
                <a:moveTo>
                  <a:pt x="0" y="0"/>
                </a:moveTo>
                <a:lnTo>
                  <a:pt x="3505200" y="0"/>
                </a:lnTo>
                <a:lnTo>
                  <a:pt x="35052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64B5F6">
              <a:alpha val="7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7315200" y="35306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收藏 (fav)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02500" y="38354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2.7%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848600" y="4292600"/>
            <a:ext cx="2336800" cy="1066800"/>
          </a:xfrm>
          <a:custGeom>
            <a:avLst/>
            <a:gdLst/>
            <a:ahLst/>
            <a:cxnLst/>
            <a:rect l="l" t="t" r="r" b="b"/>
            <a:pathLst>
              <a:path w="2336800" h="1066800">
                <a:moveTo>
                  <a:pt x="0" y="0"/>
                </a:moveTo>
                <a:lnTo>
                  <a:pt x="2336800" y="0"/>
                </a:lnTo>
                <a:lnTo>
                  <a:pt x="2336800" y="965198"/>
                </a:lnTo>
                <a:cubicBezTo>
                  <a:pt x="2336800" y="1021311"/>
                  <a:pt x="2291311" y="1066800"/>
                  <a:pt x="22351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6" name="Text 13"/>
          <p:cNvSpPr/>
          <p:nvPr/>
        </p:nvSpPr>
        <p:spPr>
          <a:xfrm>
            <a:off x="7943850" y="4445000"/>
            <a:ext cx="214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 (buy)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24800" y="4800600"/>
            <a:ext cx="218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092200"/>
            <a:ext cx="56261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深夜流量高，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转化却低迷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209800"/>
            <a:ext cx="553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0:00-1:00 为活跃高峰，但转化率(1.60%)反而低于晚间黄金档(1.96%)。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124200"/>
            <a:ext cx="5435600" cy="863600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406400" y="3403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2196F3"/>
          </a:solidFill>
        </p:spPr>
      </p:sp>
      <p:sp>
        <p:nvSpPr>
          <p:cNvPr id="7" name="Text 4"/>
          <p:cNvSpPr/>
          <p:nvPr/>
        </p:nvSpPr>
        <p:spPr>
          <a:xfrm>
            <a:off x="990600" y="3276600"/>
            <a:ext cx="3124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深夜时段 (0:00-1:00)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0600" y="3581400"/>
            <a:ext cx="3111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流量峰值达 </a:t>
            </a:r>
            <a:r>
              <a:rPr lang="en-US" sz="1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65,290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次，转化率 </a:t>
            </a:r>
            <a:r>
              <a:rPr lang="en-US" sz="1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1.60%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" y="4191000"/>
            <a:ext cx="5435600" cy="863600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06400" y="4470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2196F3"/>
          </a:solidFill>
        </p:spPr>
      </p:sp>
      <p:sp>
        <p:nvSpPr>
          <p:cNvPr id="11" name="Text 8"/>
          <p:cNvSpPr/>
          <p:nvPr/>
        </p:nvSpPr>
        <p:spPr>
          <a:xfrm>
            <a:off x="990600" y="4343400"/>
            <a:ext cx="335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黄金时段 (19:00-22:00)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90600" y="4648200"/>
            <a:ext cx="334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流量次高，转化率 </a:t>
            </a:r>
            <a:r>
              <a:rPr lang="en-US" sz="1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1.96%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，决策效率更高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4000" y="5257800"/>
            <a:ext cx="5524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启示：时段策略不能只看流量，需结合用户决策场景差异，为后续时段营销方案埋下伏笔。</a:t>
            </a:r>
            <a:endParaRPr lang="en-US" sz="1600" dirty="0"/>
          </a:p>
        </p:txBody>
      </p:sp>
      <p:pic>
        <p:nvPicPr>
          <p:cNvPr id="14" name="图片 13" descr="图2_用户活跃时段分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35" y="734695"/>
            <a:ext cx="5436870" cy="53886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性别差异微弱，却藏加购信号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69164" y="16764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/>
            </a:pathLst>
          </a:custGeom>
          <a:solidFill>
            <a:srgbClr val="64B5F6"/>
          </a:solidFill>
        </p:spPr>
      </p:sp>
      <p:sp>
        <p:nvSpPr>
          <p:cNvPr id="5" name="Text 2"/>
          <p:cNvSpPr/>
          <p:nvPr/>
        </p:nvSpPr>
        <p:spPr>
          <a:xfrm>
            <a:off x="3373914" y="25400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男性用户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32773" y="2997200"/>
            <a:ext cx="1625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1.95%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56464" y="3505200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购买转化率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39014" y="3860800"/>
            <a:ext cx="81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5.46%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78714" y="4216400"/>
            <a:ext cx="53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加购率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0178" y="16764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/>
            </a:pathLst>
          </a:custGeom>
          <a:solidFill>
            <a:srgbClr val="64B5F6"/>
          </a:solidFill>
        </p:spPr>
      </p:sp>
      <p:sp>
        <p:nvSpPr>
          <p:cNvPr id="11" name="Text 8"/>
          <p:cNvSpPr/>
          <p:nvPr/>
        </p:nvSpPr>
        <p:spPr>
          <a:xfrm>
            <a:off x="7674928" y="25400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女性用户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33787" y="2997200"/>
            <a:ext cx="1625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57478" y="3505200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购买转化率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40028" y="3860800"/>
            <a:ext cx="81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5.88%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79728" y="4216400"/>
            <a:ext cx="53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加购率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5384800"/>
            <a:ext cx="11684000" cy="1219200"/>
          </a:xfrm>
          <a:custGeom>
            <a:avLst/>
            <a:gdLst/>
            <a:ahLst/>
            <a:cxnLst/>
            <a:rect l="l" t="t" r="r" b="b"/>
            <a:pathLst>
              <a:path w="11684000" h="1219200">
                <a:moveTo>
                  <a:pt x="101596" y="0"/>
                </a:moveTo>
                <a:lnTo>
                  <a:pt x="11582404" y="0"/>
                </a:lnTo>
                <a:cubicBezTo>
                  <a:pt x="11638514" y="0"/>
                  <a:pt x="11684000" y="45486"/>
                  <a:pt x="11684000" y="101596"/>
                </a:cubicBezTo>
                <a:lnTo>
                  <a:pt x="11684000" y="1117604"/>
                </a:lnTo>
                <a:cubicBezTo>
                  <a:pt x="11684000" y="1173714"/>
                  <a:pt x="11638514" y="1219200"/>
                  <a:pt x="11582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457200" y="5803900"/>
            <a:ext cx="431800" cy="381000"/>
          </a:xfrm>
          <a:custGeom>
            <a:avLst/>
            <a:gdLst/>
            <a:ahLst/>
            <a:cxnLst/>
            <a:rect l="l" t="t" r="r" b="b"/>
            <a:pathLst>
              <a:path w="431800" h="381000"/>
            </a:pathLst>
          </a:custGeom>
          <a:solidFill>
            <a:srgbClr val="FFD700"/>
          </a:solidFill>
        </p:spPr>
      </p:sp>
      <p:sp>
        <p:nvSpPr>
          <p:cNvPr id="18" name="Text 15"/>
          <p:cNvSpPr/>
          <p:nvPr/>
        </p:nvSpPr>
        <p:spPr>
          <a:xfrm>
            <a:off x="1097756" y="558800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7756" y="5892800"/>
            <a:ext cx="10731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男女购买率持平，但女性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加购率更高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，提示“先加购后决策”路径值得干预。性别与行为整体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相关性微弱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，模型应更关注行为信号而非人口属性。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4300220" y="2123440"/>
            <a:ext cx="359219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2483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20235" y="3606165"/>
            <a:ext cx="3352165" cy="1182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数据炼金与特征锻造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97000"/>
          </a:blip>
          <a:srcRect t="22162"/>
          <a:stretch>
            <a:fillRect/>
          </a:stretch>
        </p:blipFill>
        <p:spPr>
          <a:xfrm>
            <a:off x="6811010" y="549275"/>
            <a:ext cx="2052320" cy="173672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0" y="0"/>
            <a:ext cx="4420235" cy="68707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 flipH="1">
            <a:off x="7772400" y="0"/>
            <a:ext cx="44196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803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数据预处理：三步锻造高质量数据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9550" y="22606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通过清洗、截断与补全，在保真与保量间取得平衡，为建模排除噪声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693227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915477" y="3200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2196F3"/>
          </a:solidFill>
        </p:spPr>
      </p:sp>
      <p:sp>
        <p:nvSpPr>
          <p:cNvPr id="7" name="Text 4"/>
          <p:cNvSpPr/>
          <p:nvPr/>
        </p:nvSpPr>
        <p:spPr>
          <a:xfrm>
            <a:off x="292100" y="4089400"/>
            <a:ext cx="3822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数据清洗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1150" y="4546600"/>
            <a:ext cx="378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缺失值众数/0填充，删除重复记录，保留</a:t>
            </a:r>
            <a:r>
              <a:rPr lang="en-US" sz="1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75.7万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条有效记录。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7841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810091" y="3200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2196F3"/>
          </a:solidFill>
        </p:spPr>
      </p:sp>
      <p:sp>
        <p:nvSpPr>
          <p:cNvPr id="11" name="Text 8"/>
          <p:cNvSpPr/>
          <p:nvPr/>
        </p:nvSpPr>
        <p:spPr>
          <a:xfrm>
            <a:off x="4186714" y="4089400"/>
            <a:ext cx="3822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异常截断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05764" y="4546600"/>
            <a:ext cx="378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价格采用</a:t>
            </a:r>
            <a:r>
              <a:rPr lang="en-US" sz="1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99分位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截断，数量限制在0-100，剔除极端值。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482455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9704705" y="3200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2196F3"/>
          </a:solidFill>
        </p:spPr>
      </p:sp>
      <p:sp>
        <p:nvSpPr>
          <p:cNvPr id="15" name="Text 12"/>
          <p:cNvSpPr/>
          <p:nvPr/>
        </p:nvSpPr>
        <p:spPr>
          <a:xfrm>
            <a:off x="8081328" y="4089400"/>
            <a:ext cx="3822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特征补全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00378" y="4546600"/>
            <a:ext cx="3784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提取时间特征，定义购买标签，构建</a:t>
            </a:r>
            <a:r>
              <a:rPr lang="en-US" sz="1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7个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衍生特征。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295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七把特征利刃，拆解兴趣与热度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9550" y="17526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构建7个衍生特征，共同刻画“人-货-场”三要素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311400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311150" y="2573814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user_goods_count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7500" y="2827814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用户-商品交互次数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99414" y="2311400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4256564" y="2573814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is_hot_category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62914" y="2827814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是否热门分类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44828" y="2311400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8201978" y="2573814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total_behavior_count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08328" y="2827814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用户总行为次数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4000" y="3445828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311150" y="3708400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browse_goods_types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7500" y="3962400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用户浏览商品种类数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199414" y="3445828"/>
            <a:ext cx="3797300" cy="2120900"/>
          </a:xfrm>
          <a:custGeom>
            <a:avLst/>
            <a:gdLst/>
            <a:ahLst/>
            <a:cxnLst/>
            <a:rect l="l" t="t" r="r" b="b"/>
            <a:pathLst>
              <a:path w="3797300" h="2120900">
                <a:moveTo>
                  <a:pt x="101591" y="0"/>
                </a:moveTo>
                <a:lnTo>
                  <a:pt x="3695709" y="0"/>
                </a:lnTo>
                <a:cubicBezTo>
                  <a:pt x="3751816" y="0"/>
                  <a:pt x="3797300" y="45484"/>
                  <a:pt x="3797300" y="101591"/>
                </a:cubicBezTo>
                <a:lnTo>
                  <a:pt x="3797300" y="2019309"/>
                </a:lnTo>
                <a:cubicBezTo>
                  <a:pt x="3797300" y="2075416"/>
                  <a:pt x="3751816" y="2120900"/>
                  <a:pt x="3695709" y="2120900"/>
                </a:cubicBezTo>
                <a:lnTo>
                  <a:pt x="101591" y="2120900"/>
                </a:lnTo>
                <a:cubicBezTo>
                  <a:pt x="45484" y="2120900"/>
                  <a:pt x="0" y="2075416"/>
                  <a:pt x="0" y="20193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18" name="Shape 15"/>
          <p:cNvSpPr/>
          <p:nvPr/>
        </p:nvSpPr>
        <p:spPr>
          <a:xfrm>
            <a:off x="4301014" y="4008914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333333"/>
          </a:solidFill>
        </p:spPr>
      </p:sp>
      <p:sp>
        <p:nvSpPr>
          <p:cNvPr id="19" name="Text 16"/>
          <p:cNvSpPr/>
          <p:nvPr/>
        </p:nvSpPr>
        <p:spPr>
          <a:xfrm>
            <a:off x="4250214" y="4491514"/>
            <a:ext cx="369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62914" y="4796314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构建高质量特征体系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44828" y="3445828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8201978" y="3708400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goods_hot_score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08328" y="3962400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商品热度分数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4000" y="4580414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311150" y="4842828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is_peak_hour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17500" y="5096828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是否高峰时段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44828" y="4580414"/>
            <a:ext cx="3797300" cy="977900"/>
          </a:xfrm>
          <a:custGeom>
            <a:avLst/>
            <a:gdLst/>
            <a:ahLst/>
            <a:cxnLst/>
            <a:rect l="l" t="t" r="r" b="b"/>
            <a:pathLst>
              <a:path w="3797300" h="977900">
                <a:moveTo>
                  <a:pt x="101604" y="0"/>
                </a:moveTo>
                <a:lnTo>
                  <a:pt x="3695696" y="0"/>
                </a:lnTo>
                <a:cubicBezTo>
                  <a:pt x="3751810" y="0"/>
                  <a:pt x="3797300" y="45490"/>
                  <a:pt x="3797300" y="101604"/>
                </a:cubicBezTo>
                <a:lnTo>
                  <a:pt x="3797300" y="876296"/>
                </a:lnTo>
                <a:cubicBezTo>
                  <a:pt x="3797300" y="932410"/>
                  <a:pt x="3751810" y="977900"/>
                  <a:pt x="369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8201978" y="4842828"/>
            <a:ext cx="3683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is_weekend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08328" y="5096828"/>
            <a:ext cx="3670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是否周末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4300220" y="2123440"/>
            <a:ext cx="359219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2483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20235" y="3606165"/>
            <a:ext cx="3352165" cy="1182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模型较量与性能解码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97000"/>
          </a:blip>
          <a:srcRect t="22162"/>
          <a:stretch>
            <a:fillRect/>
          </a:stretch>
        </p:blipFill>
        <p:spPr>
          <a:xfrm>
            <a:off x="6811010" y="549275"/>
            <a:ext cx="2052320" cy="173672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0" y="0"/>
            <a:ext cx="4420235" cy="68707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 flipH="1">
            <a:off x="7772400" y="0"/>
            <a:ext cx="44196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模型较量：逻辑回归以 AUC 0.755 胜出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9550" y="7112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在正负样本失衡的电商场景，逻辑回归展现出更优的潜力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64160" y="2570480"/>
            <a:ext cx="5621020" cy="2636520"/>
          </a:xfrm>
          <a:custGeom>
            <a:avLst/>
            <a:gdLst/>
            <a:ahLst/>
            <a:cxnLst/>
            <a:rect l="l" t="t" r="r" b="b"/>
            <a:pathLst>
              <a:path w="5621020" h="2636520">
                <a:moveTo>
                  <a:pt x="152391" y="0"/>
                </a:moveTo>
                <a:lnTo>
                  <a:pt x="5468629" y="0"/>
                </a:lnTo>
                <a:cubicBezTo>
                  <a:pt x="5552736" y="0"/>
                  <a:pt x="5621020" y="68284"/>
                  <a:pt x="5621020" y="152391"/>
                </a:cubicBezTo>
                <a:lnTo>
                  <a:pt x="5621020" y="2484129"/>
                </a:lnTo>
                <a:cubicBezTo>
                  <a:pt x="5621020" y="2568292"/>
                  <a:pt x="5552792" y="2636520"/>
                  <a:pt x="5468629" y="2636520"/>
                </a:cubicBezTo>
                <a:lnTo>
                  <a:pt x="152391" y="2636520"/>
                </a:lnTo>
                <a:cubicBezTo>
                  <a:pt x="68284" y="2636520"/>
                  <a:pt x="0" y="2568236"/>
                  <a:pt x="0" y="248412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64B5F6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885440"/>
            <a:ext cx="514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逻辑回归 (Logistic Regression)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1970" y="3494881"/>
            <a:ext cx="51054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AUC 分数: </a:t>
            </a:r>
            <a:r>
              <a:rPr lang="en-US" sz="36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0.7551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8320" y="4175601"/>
            <a:ext cx="5092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准确率: 0.6838 | 召回率: 0.7086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4670" y="4632801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综合性能更优，能精准识别潜在购买用户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4597" y="2575560"/>
            <a:ext cx="5623560" cy="2626360"/>
          </a:xfrm>
          <a:custGeom>
            <a:avLst/>
            <a:gdLst/>
            <a:ahLst/>
            <a:cxnLst/>
            <a:rect l="l" t="t" r="r" b="b"/>
            <a:pathLst>
              <a:path w="5623560" h="2626360">
                <a:moveTo>
                  <a:pt x="152408" y="0"/>
                </a:moveTo>
                <a:lnTo>
                  <a:pt x="5471152" y="0"/>
                </a:lnTo>
                <a:cubicBezTo>
                  <a:pt x="5555325" y="0"/>
                  <a:pt x="5623560" y="68235"/>
                  <a:pt x="5623560" y="152408"/>
                </a:cubicBezTo>
                <a:lnTo>
                  <a:pt x="5623560" y="2473952"/>
                </a:lnTo>
                <a:cubicBezTo>
                  <a:pt x="5623560" y="2558125"/>
                  <a:pt x="5555325" y="2626360"/>
                  <a:pt x="5471152" y="2626360"/>
                </a:cubicBezTo>
                <a:lnTo>
                  <a:pt x="152408" y="2626360"/>
                </a:lnTo>
                <a:cubicBezTo>
                  <a:pt x="68235" y="2626360"/>
                  <a:pt x="0" y="2558125"/>
                  <a:pt x="0" y="2473952"/>
                </a:cubicBezTo>
                <a:lnTo>
                  <a:pt x="0" y="152408"/>
                </a:lnTo>
                <a:cubicBezTo>
                  <a:pt x="0" y="68235"/>
                  <a:pt x="68235" y="0"/>
                  <a:pt x="1524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D1D5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8278" y="2885440"/>
            <a:ext cx="5156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支持向量机 (SVM)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57328" y="3494881"/>
            <a:ext cx="51181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AUC 分数: </a:t>
            </a:r>
            <a:r>
              <a:rPr lang="en-US" sz="3600" b="1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0.5738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63678" y="4175601"/>
            <a:ext cx="5105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准确率: 0.1258 | 召回率: 0.9346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70028" y="4632801"/>
            <a:ext cx="5092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召回率高但精确率低，存在大量误判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2400" y="1270000"/>
            <a:ext cx="562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Top 3 关键预测特征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82880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模型系数揭示影响购买决策的核心因素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02400" y="2438400"/>
            <a:ext cx="5435600" cy="914400"/>
          </a:xfrm>
          <a:custGeom>
            <a:avLst/>
            <a:gdLst/>
            <a:ahLst/>
            <a:cxnLst/>
            <a:rect l="l" t="t" r="r" b="b"/>
            <a:pathLst>
              <a:path w="5435600" h="914400">
                <a:moveTo>
                  <a:pt x="101599" y="0"/>
                </a:moveTo>
                <a:lnTo>
                  <a:pt x="5334001" y="0"/>
                </a:lnTo>
                <a:cubicBezTo>
                  <a:pt x="5390113" y="0"/>
                  <a:pt x="5435600" y="45487"/>
                  <a:pt x="5435600" y="101599"/>
                </a:cubicBezTo>
                <a:lnTo>
                  <a:pt x="5435600" y="812801"/>
                </a:lnTo>
                <a:cubicBezTo>
                  <a:pt x="5435600" y="868913"/>
                  <a:pt x="5390113" y="914400"/>
                  <a:pt x="5334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6654800" y="2590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6869747" y="2692400"/>
            <a:ext cx="330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67600" y="2590800"/>
            <a:ext cx="2781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用户性别 (sex)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67600" y="29464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影响系数最高，是基础用户属性。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02400" y="3556000"/>
            <a:ext cx="5435600" cy="914400"/>
          </a:xfrm>
          <a:custGeom>
            <a:avLst/>
            <a:gdLst/>
            <a:ahLst/>
            <a:cxnLst/>
            <a:rect l="l" t="t" r="r" b="b"/>
            <a:pathLst>
              <a:path w="5435600" h="914400">
                <a:moveTo>
                  <a:pt x="101599" y="0"/>
                </a:moveTo>
                <a:lnTo>
                  <a:pt x="5334001" y="0"/>
                </a:lnTo>
                <a:cubicBezTo>
                  <a:pt x="5390113" y="0"/>
                  <a:pt x="5435600" y="45487"/>
                  <a:pt x="5435600" y="101599"/>
                </a:cubicBezTo>
                <a:lnTo>
                  <a:pt x="5435600" y="812801"/>
                </a:lnTo>
                <a:cubicBezTo>
                  <a:pt x="5435600" y="868913"/>
                  <a:pt x="5390113" y="914400"/>
                  <a:pt x="5334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654800" y="3708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12" name="Text 9"/>
          <p:cNvSpPr/>
          <p:nvPr/>
        </p:nvSpPr>
        <p:spPr>
          <a:xfrm>
            <a:off x="6869747" y="3810000"/>
            <a:ext cx="330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67600" y="3708400"/>
            <a:ext cx="367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是否周末 (is_weekend)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67600" y="40640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时间因素的重要性凸显，周末购物意愿更强。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02400" y="4673600"/>
            <a:ext cx="5435600" cy="914400"/>
          </a:xfrm>
          <a:custGeom>
            <a:avLst/>
            <a:gdLst/>
            <a:ahLst/>
            <a:cxnLst/>
            <a:rect l="l" t="t" r="r" b="b"/>
            <a:pathLst>
              <a:path w="5435600" h="914400">
                <a:moveTo>
                  <a:pt x="101599" y="0"/>
                </a:moveTo>
                <a:lnTo>
                  <a:pt x="5334001" y="0"/>
                </a:lnTo>
                <a:cubicBezTo>
                  <a:pt x="5390113" y="0"/>
                  <a:pt x="5435600" y="45487"/>
                  <a:pt x="5435600" y="101599"/>
                </a:cubicBezTo>
                <a:lnTo>
                  <a:pt x="5435600" y="812801"/>
                </a:lnTo>
                <a:cubicBezTo>
                  <a:pt x="5435600" y="868913"/>
                  <a:pt x="5390113" y="914400"/>
                  <a:pt x="5334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6654800" y="482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17" name="Text 14"/>
          <p:cNvSpPr/>
          <p:nvPr/>
        </p:nvSpPr>
        <p:spPr>
          <a:xfrm>
            <a:off x="6869747" y="4927600"/>
            <a:ext cx="330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67600" y="4826000"/>
            <a:ext cx="3238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是否高峰时段 (is_peak_hour)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67600" y="5181600"/>
            <a:ext cx="3213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用户活跃时段与购买意愿强相关。</a:t>
            </a:r>
            <a:endParaRPr lang="en-US" sz="1600" dirty="0"/>
          </a:p>
        </p:txBody>
      </p:sp>
      <p:pic>
        <p:nvPicPr>
          <p:cNvPr id="20" name="图片 19" descr="图7_特征重要性排名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735965"/>
            <a:ext cx="6236970" cy="53860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4300220" y="2123440"/>
            <a:ext cx="359219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2483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20235" y="3606165"/>
            <a:ext cx="3352165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用户分群与价值分层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97000"/>
          </a:blip>
          <a:srcRect t="22162"/>
          <a:stretch>
            <a:fillRect/>
          </a:stretch>
        </p:blipFill>
        <p:spPr>
          <a:xfrm>
            <a:off x="6811010" y="549275"/>
            <a:ext cx="2052320" cy="173672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0" y="0"/>
            <a:ext cx="4420235" cy="68707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 flipH="1">
            <a:off x="7772400" y="0"/>
            <a:ext cx="44196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2954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K-Means三分群：转化率相差4倍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9550" y="17526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同样流量，不同价值。聚类量化证明用户价值分化明显。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511300" y="4394359"/>
            <a:ext cx="2921000" cy="457200"/>
          </a:xfrm>
          <a:custGeom>
            <a:avLst/>
            <a:gdLst/>
            <a:ahLst/>
            <a:cxnLst/>
            <a:rect l="l" t="t" r="r" b="b"/>
            <a:pathLst>
              <a:path w="2921000" h="457200">
                <a:moveTo>
                  <a:pt x="101599" y="0"/>
                </a:moveTo>
                <a:lnTo>
                  <a:pt x="2819401" y="0"/>
                </a:lnTo>
                <a:cubicBezTo>
                  <a:pt x="2875513" y="0"/>
                  <a:pt x="2921000" y="45487"/>
                  <a:pt x="2921000" y="101599"/>
                </a:cubicBezTo>
                <a:lnTo>
                  <a:pt x="2921000" y="457200"/>
                </a:lnTo>
                <a:lnTo>
                  <a:pt x="0" y="457200"/>
                </a:ln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4B5F6">
              <a:alpha val="5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2389823" y="4394359"/>
            <a:ext cx="1358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0.59%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511300" y="4851559"/>
            <a:ext cx="2921000" cy="711200"/>
          </a:xfrm>
          <a:custGeom>
            <a:avLst/>
            <a:gdLst/>
            <a:ahLst/>
            <a:cxnLst/>
            <a:rect l="l" t="t" r="r" b="b"/>
            <a:pathLst>
              <a:path w="2921000" h="711200">
                <a:moveTo>
                  <a:pt x="0" y="0"/>
                </a:moveTo>
                <a:lnTo>
                  <a:pt x="2921000" y="0"/>
                </a:lnTo>
                <a:lnTo>
                  <a:pt x="29210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4B5F6">
              <a:alpha val="8000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1562100" y="4953159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低价值群 (2)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74800" y="5257959"/>
            <a:ext cx="2794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94,794人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35500" y="4394359"/>
            <a:ext cx="2921000" cy="457200"/>
          </a:xfrm>
          <a:custGeom>
            <a:avLst/>
            <a:gdLst/>
            <a:ahLst/>
            <a:cxnLst/>
            <a:rect l="l" t="t" r="r" b="b"/>
            <a:pathLst>
              <a:path w="2921000" h="457200">
                <a:moveTo>
                  <a:pt x="101599" y="0"/>
                </a:moveTo>
                <a:lnTo>
                  <a:pt x="2819401" y="0"/>
                </a:lnTo>
                <a:cubicBezTo>
                  <a:pt x="2875513" y="0"/>
                  <a:pt x="2921000" y="45487"/>
                  <a:pt x="2921000" y="101599"/>
                </a:cubicBezTo>
                <a:lnTo>
                  <a:pt x="2921000" y="457200"/>
                </a:lnTo>
                <a:lnTo>
                  <a:pt x="0" y="457200"/>
                </a:ln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4B5F6">
              <a:alpha val="70196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5514023" y="4394359"/>
            <a:ext cx="1358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1.27%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35500" y="4851559"/>
            <a:ext cx="2921000" cy="711200"/>
          </a:xfrm>
          <a:custGeom>
            <a:avLst/>
            <a:gdLst/>
            <a:ahLst/>
            <a:cxnLst/>
            <a:rect l="l" t="t" r="r" b="b"/>
            <a:pathLst>
              <a:path w="2921000" h="711200">
                <a:moveTo>
                  <a:pt x="0" y="0"/>
                </a:moveTo>
                <a:lnTo>
                  <a:pt x="2921000" y="0"/>
                </a:lnTo>
                <a:lnTo>
                  <a:pt x="29210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64B5F6"/>
          </a:solidFill>
        </p:spPr>
      </p:sp>
      <p:sp>
        <p:nvSpPr>
          <p:cNvPr id="13" name="Text 10"/>
          <p:cNvSpPr/>
          <p:nvPr/>
        </p:nvSpPr>
        <p:spPr>
          <a:xfrm>
            <a:off x="4686300" y="4953159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中价值群 (0)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99000" y="5257959"/>
            <a:ext cx="2794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176,123人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59700" y="4343559"/>
            <a:ext cx="2921000" cy="508000"/>
          </a:xfrm>
          <a:custGeom>
            <a:avLst/>
            <a:gdLst/>
            <a:ahLst/>
            <a:cxnLst/>
            <a:rect l="l" t="t" r="r" b="b"/>
            <a:pathLst>
              <a:path w="2921000" h="508000">
                <a:moveTo>
                  <a:pt x="101600" y="0"/>
                </a:moveTo>
                <a:lnTo>
                  <a:pt x="2819400" y="0"/>
                </a:lnTo>
                <a:cubicBezTo>
                  <a:pt x="2875475" y="0"/>
                  <a:pt x="2921000" y="45525"/>
                  <a:pt x="2921000" y="101600"/>
                </a:cubicBezTo>
                <a:lnTo>
                  <a:pt x="2921000" y="508000"/>
                </a:lnTo>
                <a:lnTo>
                  <a:pt x="0" y="508000"/>
                </a:ln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D700"/>
          </a:solidFill>
        </p:spPr>
      </p:sp>
      <p:sp>
        <p:nvSpPr>
          <p:cNvPr id="16" name="Text 13"/>
          <p:cNvSpPr/>
          <p:nvPr/>
        </p:nvSpPr>
        <p:spPr>
          <a:xfrm>
            <a:off x="8521700" y="4343559"/>
            <a:ext cx="1625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2.42%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59700" y="4851559"/>
            <a:ext cx="2921000" cy="711200"/>
          </a:xfrm>
          <a:custGeom>
            <a:avLst/>
            <a:gdLst/>
            <a:ahLst/>
            <a:cxnLst/>
            <a:rect l="l" t="t" r="r" b="b"/>
            <a:pathLst>
              <a:path w="2921000" h="711200">
                <a:moveTo>
                  <a:pt x="0" y="0"/>
                </a:moveTo>
                <a:lnTo>
                  <a:pt x="2921000" y="0"/>
                </a:lnTo>
                <a:lnTo>
                  <a:pt x="29210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2196F3"/>
          </a:solidFill>
        </p:spPr>
      </p:sp>
      <p:sp>
        <p:nvSpPr>
          <p:cNvPr id="18" name="Text 15"/>
          <p:cNvSpPr/>
          <p:nvPr/>
        </p:nvSpPr>
        <p:spPr>
          <a:xfrm>
            <a:off x="7810500" y="4953159"/>
            <a:ext cx="281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高价值群 (1)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23200" y="5257959"/>
            <a:ext cx="2794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486,648人 (64.2%)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4000" y="254000"/>
            <a:ext cx="3898900" cy="6350000"/>
          </a:xfrm>
          <a:custGeom>
            <a:avLst/>
            <a:gdLst/>
            <a:ahLst/>
            <a:cxnLst/>
            <a:rect l="l" t="t" r="r" b="b"/>
            <a:pathLst>
              <a:path w="3898900" h="6350000">
                <a:moveTo>
                  <a:pt x="152408" y="0"/>
                </a:moveTo>
                <a:lnTo>
                  <a:pt x="3898900" y="0"/>
                </a:lnTo>
                <a:lnTo>
                  <a:pt x="3898900" y="6350000"/>
                </a:lnTo>
                <a:lnTo>
                  <a:pt x="152408" y="6350000"/>
                </a:lnTo>
                <a:cubicBezTo>
                  <a:pt x="68292" y="6350000"/>
                  <a:pt x="0" y="6281708"/>
                  <a:pt x="0" y="6197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2196F3"/>
          </a:solidFill>
        </p:spPr>
      </p:sp>
      <p:sp>
        <p:nvSpPr>
          <p:cNvPr id="4" name="Shape 1"/>
          <p:cNvSpPr/>
          <p:nvPr/>
        </p:nvSpPr>
        <p:spPr>
          <a:xfrm>
            <a:off x="1724977" y="2362359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202406" y="190500"/>
                </a:moveTo>
                <a:cubicBezTo>
                  <a:pt x="202406" y="91931"/>
                  <a:pt x="282431" y="11906"/>
                  <a:pt x="381000" y="11906"/>
                </a:cubicBezTo>
                <a:cubicBezTo>
                  <a:pt x="479569" y="11906"/>
                  <a:pt x="559594" y="91931"/>
                  <a:pt x="559594" y="190500"/>
                </a:cubicBezTo>
                <a:cubicBezTo>
                  <a:pt x="559594" y="289069"/>
                  <a:pt x="479569" y="369094"/>
                  <a:pt x="381000" y="369094"/>
                </a:cubicBezTo>
                <a:cubicBezTo>
                  <a:pt x="282431" y="369094"/>
                  <a:pt x="202406" y="289069"/>
                  <a:pt x="202406" y="190500"/>
                </a:cubicBezTo>
                <a:close/>
                <a:moveTo>
                  <a:pt x="71438" y="717798"/>
                </a:moveTo>
                <a:cubicBezTo>
                  <a:pt x="71438" y="571202"/>
                  <a:pt x="190202" y="452438"/>
                  <a:pt x="336798" y="452438"/>
                </a:cubicBezTo>
                <a:lnTo>
                  <a:pt x="425202" y="452438"/>
                </a:lnTo>
                <a:cubicBezTo>
                  <a:pt x="571798" y="452438"/>
                  <a:pt x="690563" y="571202"/>
                  <a:pt x="690563" y="717798"/>
                </a:cubicBezTo>
                <a:cubicBezTo>
                  <a:pt x="690563" y="742206"/>
                  <a:pt x="670768" y="762000"/>
                  <a:pt x="646361" y="762000"/>
                </a:cubicBezTo>
                <a:lnTo>
                  <a:pt x="115639" y="762000"/>
                </a:lnTo>
                <a:cubicBezTo>
                  <a:pt x="91232" y="762000"/>
                  <a:pt x="71438" y="742206"/>
                  <a:pt x="71438" y="717798"/>
                </a:cubicBezTo>
                <a:close/>
                <a:moveTo>
                  <a:pt x="911423" y="197495"/>
                </a:moveTo>
                <a:lnTo>
                  <a:pt x="792361" y="387995"/>
                </a:lnTo>
                <a:cubicBezTo>
                  <a:pt x="786110" y="397966"/>
                  <a:pt x="775395" y="404217"/>
                  <a:pt x="763637" y="404813"/>
                </a:cubicBezTo>
                <a:cubicBezTo>
                  <a:pt x="751880" y="405408"/>
                  <a:pt x="740569" y="400050"/>
                  <a:pt x="733574" y="390525"/>
                </a:cubicBezTo>
                <a:lnTo>
                  <a:pt x="662136" y="295275"/>
                </a:lnTo>
                <a:cubicBezTo>
                  <a:pt x="650230" y="279499"/>
                  <a:pt x="653504" y="257175"/>
                  <a:pt x="669280" y="245269"/>
                </a:cubicBezTo>
                <a:cubicBezTo>
                  <a:pt x="685056" y="233362"/>
                  <a:pt x="707380" y="236637"/>
                  <a:pt x="719286" y="252413"/>
                </a:cubicBezTo>
                <a:lnTo>
                  <a:pt x="759470" y="305991"/>
                </a:lnTo>
                <a:lnTo>
                  <a:pt x="850850" y="159693"/>
                </a:lnTo>
                <a:cubicBezTo>
                  <a:pt x="861268" y="143024"/>
                  <a:pt x="883295" y="137815"/>
                  <a:pt x="900113" y="148382"/>
                </a:cubicBezTo>
                <a:cubicBezTo>
                  <a:pt x="916930" y="158948"/>
                  <a:pt x="921990" y="180826"/>
                  <a:pt x="911423" y="19764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1363028" y="3327559"/>
            <a:ext cx="16764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高价值人群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画像速写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19371" y="4241641"/>
            <a:ext cx="1765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集群1：转化率2.42%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55014" y="2311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707414" y="2463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2196F3"/>
          </a:solidFill>
        </p:spPr>
      </p:sp>
      <p:sp>
        <p:nvSpPr>
          <p:cNvPr id="9" name="Text 6"/>
          <p:cNvSpPr/>
          <p:nvPr/>
        </p:nvSpPr>
        <p:spPr>
          <a:xfrm>
            <a:off x="5367814" y="2311400"/>
            <a:ext cx="2425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行为活跃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67814" y="2667000"/>
            <a:ext cx="2400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总行为次数高，用户粘性强。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55014" y="3124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4726464" y="3276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95548" y="-15716"/>
                </a:moveTo>
                <a:cubicBezTo>
                  <a:pt x="101084" y="-20360"/>
                  <a:pt x="109240" y="-20181"/>
                  <a:pt x="114538" y="-15180"/>
                </a:cubicBezTo>
                <a:cubicBezTo>
                  <a:pt x="121860" y="-8275"/>
                  <a:pt x="128409" y="-655"/>
                  <a:pt x="134719" y="7084"/>
                </a:cubicBezTo>
                <a:cubicBezTo>
                  <a:pt x="142756" y="16907"/>
                  <a:pt x="152400" y="29885"/>
                  <a:pt x="161687" y="45303"/>
                </a:cubicBezTo>
                <a:cubicBezTo>
                  <a:pt x="164783" y="41255"/>
                  <a:pt x="167640" y="37683"/>
                  <a:pt x="170140" y="34647"/>
                </a:cubicBezTo>
                <a:cubicBezTo>
                  <a:pt x="170795" y="33873"/>
                  <a:pt x="171450" y="33040"/>
                  <a:pt x="172105" y="32206"/>
                </a:cubicBezTo>
                <a:cubicBezTo>
                  <a:pt x="176808" y="26372"/>
                  <a:pt x="182642" y="19050"/>
                  <a:pt x="190440" y="19050"/>
                </a:cubicBezTo>
                <a:cubicBezTo>
                  <a:pt x="198418" y="19050"/>
                  <a:pt x="204014" y="26134"/>
                  <a:pt x="208776" y="32206"/>
                </a:cubicBezTo>
                <a:cubicBezTo>
                  <a:pt x="209550" y="33218"/>
                  <a:pt x="210324" y="34171"/>
                  <a:pt x="211098" y="35064"/>
                </a:cubicBezTo>
                <a:cubicBezTo>
                  <a:pt x="217230" y="42446"/>
                  <a:pt x="225385" y="53102"/>
                  <a:pt x="233541" y="66258"/>
                </a:cubicBezTo>
                <a:cubicBezTo>
                  <a:pt x="249734" y="92393"/>
                  <a:pt x="266640" y="129600"/>
                  <a:pt x="266640" y="171390"/>
                </a:cubicBezTo>
                <a:cubicBezTo>
                  <a:pt x="266640" y="245031"/>
                  <a:pt x="206931" y="304740"/>
                  <a:pt x="133290" y="304740"/>
                </a:cubicBezTo>
                <a:cubicBezTo>
                  <a:pt x="59650" y="304740"/>
                  <a:pt x="0" y="245090"/>
                  <a:pt x="0" y="171450"/>
                </a:cubicBezTo>
                <a:cubicBezTo>
                  <a:pt x="0" y="117217"/>
                  <a:pt x="24467" y="70247"/>
                  <a:pt x="47923" y="37505"/>
                </a:cubicBezTo>
                <a:cubicBezTo>
                  <a:pt x="59769" y="21015"/>
                  <a:pt x="71557" y="7799"/>
                  <a:pt x="80427" y="-1250"/>
                </a:cubicBezTo>
                <a:cubicBezTo>
                  <a:pt x="85308" y="-6251"/>
                  <a:pt x="90249" y="-11192"/>
                  <a:pt x="95607" y="-15657"/>
                </a:cubicBezTo>
                <a:close/>
                <a:moveTo>
                  <a:pt x="134362" y="247650"/>
                </a:moveTo>
                <a:cubicBezTo>
                  <a:pt x="149423" y="247650"/>
                  <a:pt x="162758" y="243483"/>
                  <a:pt x="175320" y="235148"/>
                </a:cubicBezTo>
                <a:cubicBezTo>
                  <a:pt x="200382" y="217646"/>
                  <a:pt x="207109" y="182642"/>
                  <a:pt x="192048" y="155138"/>
                </a:cubicBezTo>
                <a:cubicBezTo>
                  <a:pt x="189369" y="149781"/>
                  <a:pt x="182523" y="149423"/>
                  <a:pt x="178653" y="153948"/>
                </a:cubicBezTo>
                <a:lnTo>
                  <a:pt x="163651" y="171390"/>
                </a:lnTo>
                <a:cubicBezTo>
                  <a:pt x="159722" y="175915"/>
                  <a:pt x="152638" y="175796"/>
                  <a:pt x="148947" y="171093"/>
                </a:cubicBezTo>
                <a:cubicBezTo>
                  <a:pt x="138648" y="157936"/>
                  <a:pt x="119717" y="133945"/>
                  <a:pt x="110073" y="121682"/>
                </a:cubicBezTo>
                <a:cubicBezTo>
                  <a:pt x="106859" y="117574"/>
                  <a:pt x="101025" y="116919"/>
                  <a:pt x="97274" y="120551"/>
                </a:cubicBezTo>
                <a:cubicBezTo>
                  <a:pt x="86380" y="131147"/>
                  <a:pt x="66615" y="154365"/>
                  <a:pt x="66615" y="182642"/>
                </a:cubicBezTo>
                <a:cubicBezTo>
                  <a:pt x="66615" y="223480"/>
                  <a:pt x="96738" y="247650"/>
                  <a:pt x="134303" y="247650"/>
                </a:cubicBezTo>
                <a:close/>
              </a:path>
            </a:pathLst>
          </a:custGeom>
          <a:solidFill>
            <a:srgbClr val="2196F3"/>
          </a:solidFill>
        </p:spPr>
      </p:sp>
      <p:sp>
        <p:nvSpPr>
          <p:cNvPr id="13" name="Text 10"/>
          <p:cNvSpPr/>
          <p:nvPr/>
        </p:nvSpPr>
        <p:spPr>
          <a:xfrm>
            <a:off x="5367814" y="3124200"/>
            <a:ext cx="3378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偏好热门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67814" y="3479800"/>
            <a:ext cx="3352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热衷Top3热门分类商品，消费意愿明确。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55014" y="393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4726464" y="4089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76200" y="152400"/>
                </a:moveTo>
                <a:cubicBezTo>
                  <a:pt x="65663" y="152400"/>
                  <a:pt x="57150" y="160913"/>
                  <a:pt x="57150" y="171450"/>
                </a:cubicBezTo>
                <a:lnTo>
                  <a:pt x="57150" y="209550"/>
                </a:lnTo>
                <a:cubicBezTo>
                  <a:pt x="57150" y="220087"/>
                  <a:pt x="65663" y="228600"/>
                  <a:pt x="76200" y="228600"/>
                </a:cubicBezTo>
                <a:lnTo>
                  <a:pt x="190500" y="228600"/>
                </a:lnTo>
                <a:cubicBezTo>
                  <a:pt x="201037" y="228600"/>
                  <a:pt x="209550" y="220087"/>
                  <a:pt x="209550" y="209550"/>
                </a:cubicBezTo>
                <a:lnTo>
                  <a:pt x="209550" y="171450"/>
                </a:lnTo>
                <a:cubicBezTo>
                  <a:pt x="209550" y="160913"/>
                  <a:pt x="201037" y="152400"/>
                  <a:pt x="190500" y="152400"/>
                </a:cubicBezTo>
                <a:lnTo>
                  <a:pt x="76200" y="152400"/>
                </a:lnTo>
                <a:close/>
              </a:path>
            </a:pathLst>
          </a:custGeom>
          <a:solidFill>
            <a:srgbClr val="2196F3"/>
          </a:solidFill>
        </p:spPr>
      </p:sp>
      <p:sp>
        <p:nvSpPr>
          <p:cNvPr id="17" name="Text 14"/>
          <p:cNvSpPr/>
          <p:nvPr/>
        </p:nvSpPr>
        <p:spPr>
          <a:xfrm>
            <a:off x="5367814" y="3937000"/>
            <a:ext cx="2781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时间集中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67814" y="4292600"/>
            <a:ext cx="2755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周末与晚间时段购物行为更集中。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4300220" y="2123440"/>
            <a:ext cx="359219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2483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20235" y="3606165"/>
            <a:ext cx="3352165" cy="1182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增长策略与未来蓝图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2">
            <a:alphaModFix amt="97000"/>
          </a:blip>
          <a:srcRect t="22162"/>
          <a:stretch>
            <a:fillRect/>
          </a:stretch>
        </p:blipFill>
        <p:spPr>
          <a:xfrm>
            <a:off x="6811010" y="549275"/>
            <a:ext cx="2052320" cy="1736725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>
            <a:off x="0" y="0"/>
            <a:ext cx="4420235" cy="687070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3"/>
          <a:srcRect l="3542" r="-5121" b="-185"/>
          <a:stretch>
            <a:fillRect/>
          </a:stretch>
        </p:blipFill>
        <p:spPr>
          <a:xfrm flipH="1">
            <a:off x="7772400" y="0"/>
            <a:ext cx="44196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51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三层营销组合拳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9550" y="2108200"/>
            <a:ext cx="11772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人货场联动，让模型结果直接对应可执行动作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591628" y="2844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820227" y="3149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2196F3"/>
          </a:solidFill>
        </p:spPr>
      </p:sp>
      <p:sp>
        <p:nvSpPr>
          <p:cNvPr id="7" name="Text 4"/>
          <p:cNvSpPr/>
          <p:nvPr/>
        </p:nvSpPr>
        <p:spPr>
          <a:xfrm>
            <a:off x="1343978" y="421640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高价值用户运营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2750" y="4622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建立专属会员体系，推送热门商品与限时权益。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241" y="2844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714841" y="3149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2196F3"/>
          </a:solidFill>
        </p:spPr>
      </p:sp>
      <p:sp>
        <p:nvSpPr>
          <p:cNvPr id="11" name="Text 8"/>
          <p:cNvSpPr/>
          <p:nvPr/>
        </p:nvSpPr>
        <p:spPr>
          <a:xfrm>
            <a:off x="5352891" y="42164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时段营销优化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07364" y="4622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推出“夜间专属优惠券”，黄金时段叠加直播带货。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380855" y="2844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64B5F6">
              <a:alpha val="3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9609455" y="3149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2196F3"/>
          </a:solidFill>
        </p:spPr>
      </p:sp>
      <p:sp>
        <p:nvSpPr>
          <p:cNvPr id="15" name="Text 12"/>
          <p:cNvSpPr/>
          <p:nvPr/>
        </p:nvSpPr>
        <p:spPr>
          <a:xfrm>
            <a:off x="9247505" y="42164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商品布局调整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01978" y="4622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加大热门分类库存与曝光，设置“加购立减”弹窗。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803400"/>
            <a:ext cx="56261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一个月转化率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有望提升 </a:t>
            </a:r>
            <a:r>
              <a:rPr lang="en-US" sz="30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3.1%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921000"/>
            <a:ext cx="553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基于7日移动平均法预测，短期购买转化率预计达 </a:t>
            </a:r>
            <a:r>
              <a:rPr lang="en-US" sz="1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1.98%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，为业务KPI提供量化指引。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835400"/>
            <a:ext cx="5435600" cy="1219200"/>
          </a:xfrm>
          <a:custGeom>
            <a:avLst/>
            <a:gdLst/>
            <a:ahLst/>
            <a:cxnLst/>
            <a:rect l="l" t="t" r="r" b="b"/>
            <a:pathLst>
              <a:path w="5435600" h="12192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117604"/>
                </a:lnTo>
                <a:cubicBezTo>
                  <a:pt x="5435600" y="1173714"/>
                  <a:pt x="5390114" y="1219200"/>
                  <a:pt x="5334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57200" y="40386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热门品类需求持续走高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343400"/>
            <a:ext cx="511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建议重点关注分类：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4756105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, 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4145813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, 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2355072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，为供应链与营销排期提供数据支持。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01000" y="2616200"/>
            <a:ext cx="2032000" cy="1625600"/>
          </a:xfrm>
          <a:custGeom>
            <a:avLst/>
            <a:gdLst/>
            <a:ahLst/>
            <a:cxnLst/>
            <a:rect l="l" t="t" r="r" b="b"/>
            <a:pathLst>
              <a:path w="2032000" h="1625600"/>
            </a:pathLst>
          </a:custGeom>
          <a:solidFill>
            <a:srgbClr val="64B5F6">
              <a:alpha val="5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7563088" y="2794000"/>
            <a:ext cx="290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预测转化率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91638" y="3149600"/>
            <a:ext cx="325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1.98%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1905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371600"/>
            <a:ext cx="5626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930400"/>
            <a:ext cx="553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坦诚当前局限，释放持续优化预期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5400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457200" y="2794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812800" y="2743200"/>
            <a:ext cx="4775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当前局限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149600"/>
            <a:ext cx="51181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价格字段大量缺失，影响价格敏感用户识别。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未接入用户历史订单、商品评价等外部数据。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" y="41148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64B5F6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57200" y="43688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FFD700"/>
          </a:solidFill>
        </p:spPr>
      </p:sp>
      <p:sp>
        <p:nvSpPr>
          <p:cNvPr id="11" name="Text 8"/>
          <p:cNvSpPr/>
          <p:nvPr/>
        </p:nvSpPr>
        <p:spPr>
          <a:xfrm>
            <a:off x="812800" y="4318000"/>
            <a:ext cx="4775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96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4724400"/>
            <a:ext cx="51181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LSTM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等深度学习模型捕捉用户行为时序特征。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A/B测试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验证策略效果，形成分析闭环。</a:t>
            </a:r>
            <a:endParaRPr lang="en-US" sz="1600" dirty="0"/>
          </a:p>
        </p:txBody>
      </p:sp>
      <p:pic>
        <p:nvPicPr>
          <p:cNvPr id="13" name="图片 12" descr="图10_日购买转化率趋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65" y="844550"/>
            <a:ext cx="6312535" cy="5168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0445" y="1277620"/>
            <a:ext cx="4873625" cy="27074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b="1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</a:t>
            </a:r>
            <a:endParaRPr lang="en-US" sz="1600" dirty="0"/>
          </a:p>
          <a:p>
            <a:pPr algn="just">
              <a:lnSpc>
                <a:spcPct val="100000"/>
              </a:lnSpc>
            </a:pPr>
            <a:r>
              <a:rPr lang="en-US" sz="8800" b="1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16330" y="817245"/>
            <a:ext cx="47167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1D89E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3:43:37-d2v6q2dnfo2stf9dk94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-2189" t="-15430" r="-1417" b="-11298"/>
          <a:stretch>
            <a:fillRect/>
          </a:stretch>
        </p:blipFill>
        <p:spPr>
          <a:xfrm>
            <a:off x="865505" y="5196840"/>
            <a:ext cx="2346325" cy="954405"/>
          </a:xfrm>
          <a:prstGeom prst="rect">
            <a:avLst/>
          </a:prstGeom>
        </p:spPr>
      </p:pic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866140" y="5486400"/>
            <a:ext cx="23450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龙军利</a:t>
            </a:r>
            <a:endParaRPr lang="zh-CN" altLang="en-US" sz="2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7" name="Image 2" descr="https://kimi-img.moonshot.cn/pub/slides/slides_tmpl/image/25-09-08-13:43:37-d2v6q2dnfo2stf9dk94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rcRect l="-2278" t="-15430" r="-381" b="-7841"/>
          <a:stretch>
            <a:fillRect/>
          </a:stretch>
        </p:blipFill>
        <p:spPr>
          <a:xfrm>
            <a:off x="3386455" y="5196840"/>
            <a:ext cx="2507615" cy="928370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6"/>
            </p:custDataLst>
          </p:nvPr>
        </p:nvSpPr>
        <p:spPr>
          <a:xfrm>
            <a:off x="3387725" y="5486400"/>
            <a:ext cx="2506980" cy="3034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时间:2025/01/01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3:54-d2v6q6lnfo2stf9dk9mg.png"/>
          <p:cNvPicPr>
            <a:picLocks noChangeAspect="1"/>
          </p:cNvPicPr>
          <p:nvPr/>
        </p:nvPicPr>
        <p:blipFill>
          <a:blip r:embed="rId7">
            <a:alphaModFix amt="65000"/>
          </a:blip>
          <a:srcRect t="22162"/>
          <a:stretch>
            <a:fillRect/>
          </a:stretch>
        </p:blipFill>
        <p:spPr>
          <a:xfrm>
            <a:off x="3514725" y="2575560"/>
            <a:ext cx="3129915" cy="243840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8-13:43:38-d2v6q2lnfo2stf9dk96g.png"/>
          <p:cNvPicPr>
            <a:picLocks noChangeAspect="1"/>
          </p:cNvPicPr>
          <p:nvPr/>
        </p:nvPicPr>
        <p:blipFill>
          <a:blip r:embed="rId8"/>
          <a:srcRect l="5128" t="1362" r="-2736" b="1019"/>
          <a:stretch>
            <a:fillRect/>
          </a:stretch>
        </p:blipFill>
        <p:spPr>
          <a:xfrm flipH="1">
            <a:off x="7161530" y="0"/>
            <a:ext cx="505206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75.15,&quot;left&quot;:498.7,&quot;top&quot;:402.65,&quot;width&quot;:396}"/>
</p:tagLst>
</file>

<file path=ppt/tags/tag2.xml><?xml version="1.0" encoding="utf-8"?>
<p:tagLst xmlns:p="http://schemas.openxmlformats.org/presentationml/2006/main">
  <p:tag name="KSO_WM_DIAGRAM_VIRTUALLY_FRAME" val="{&quot;height&quot;:75.15,&quot;left&quot;:498.7,&quot;top&quot;:402.65,&quot;width&quot;:396}"/>
</p:tagLst>
</file>

<file path=ppt/tags/tag3.xml><?xml version="1.0" encoding="utf-8"?>
<p:tagLst xmlns:p="http://schemas.openxmlformats.org/presentationml/2006/main">
  <p:tag name="KSO_WM_DIAGRAM_VIRTUALLY_FRAME" val="{&quot;height&quot;:75.15,&quot;left&quot;:498.7,&quot;top&quot;:402.65,&quot;width&quot;:396}"/>
</p:tagLst>
</file>

<file path=ppt/tags/tag4.xml><?xml version="1.0" encoding="utf-8"?>
<p:tagLst xmlns:p="http://schemas.openxmlformats.org/presentationml/2006/main">
  <p:tag name="KSO_WM_DIAGRAM_VIRTUALLY_FRAME" val="{&quot;height&quot;:75.15,&quot;left&quot;:498.7,&quot;top&quot;:402.65,&quot;width&quot;:396}"/>
</p:tagLst>
</file>

<file path=ppt/tags/tag5.xml><?xml version="1.0" encoding="utf-8"?>
<p:tagLst xmlns:p="http://schemas.openxmlformats.org/presentationml/2006/main">
  <p:tag name="KSO_WM_DIAGRAM_VIRTUALLY_FRAME" val="{&quot;height&quot;:75.15,&quot;left&quot;:68.15,&quot;top&quot;:409.2,&quot;width&quot;:396}"/>
</p:tagLst>
</file>

<file path=ppt/tags/tag6.xml><?xml version="1.0" encoding="utf-8"?>
<p:tagLst xmlns:p="http://schemas.openxmlformats.org/presentationml/2006/main">
  <p:tag name="KSO_WM_DIAGRAM_VIRTUALLY_FRAME" val="{&quot;height&quot;:75.15,&quot;left&quot;:68.15,&quot;top&quot;:409.2,&quot;width&quot;:396}"/>
</p:tagLst>
</file>

<file path=ppt/tags/tag7.xml><?xml version="1.0" encoding="utf-8"?>
<p:tagLst xmlns:p="http://schemas.openxmlformats.org/presentationml/2006/main">
  <p:tag name="KSO_WM_DIAGRAM_VIRTUALLY_FRAME" val="{&quot;height&quot;:75.15,&quot;left&quot;:68.15,&quot;top&quot;:409.2,&quot;width&quot;:396}"/>
</p:tagLst>
</file>

<file path=ppt/tags/tag8.xml><?xml version="1.0" encoding="utf-8"?>
<p:tagLst xmlns:p="http://schemas.openxmlformats.org/presentationml/2006/main">
  <p:tag name="KSO_WM_DIAGRAM_VIRTUALLY_FRAME" val="{&quot;height&quot;:75.15,&quot;left&quot;:68.15,&quot;top&quot;:409.2,&quot;width&quot;:396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2198</Words>
  <Application>WPS 演示</Application>
  <PresentationFormat>On-screen Show (16:9)</PresentationFormat>
  <Paragraphs>349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电商行为解码：从数据到增长</dc:title>
  <dc:creator>Kimi</dc:creator>
  <dc:subject>电商行为解码：从数据到增长</dc:subject>
  <cp:lastModifiedBy>子佩爰</cp:lastModifiedBy>
  <cp:revision>2</cp:revision>
  <dcterms:created xsi:type="dcterms:W3CDTF">2026-01-04T07:23:00Z</dcterms:created>
  <dcterms:modified xsi:type="dcterms:W3CDTF">2026-01-04T07:30:39Z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{"Label":"电商行为解码：从数据到增长","ContentProducer":"001191110108MACG2KBH8F10000","ProduceID":"d5d13772ekfjngpolpcg","ReservedCode1":"","ContentPropagator":"001191110108MACG2KBH8F20000","PropagateID":"d5d13772ekfjngpolpcg","ReservedCode2":""}</vt:lpwstr>
  </property>
  <property fmtid="{D5CDD505-2E9C-101B-9397-08002B2CF9AE}" pid="3" name="ICV">
    <vt:lpwstr>B78DF2AB26F14C1C9ED660A652BCFC2B_12</vt:lpwstr>
  </property>
  <property fmtid="{D5CDD505-2E9C-101B-9397-08002B2CF9AE}" pid="4" name="KSOProductBuildVer">
    <vt:lpwstr>2052-12.1.0.24034</vt:lpwstr>
  </property>
</Properties>
</file>